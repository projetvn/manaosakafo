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B5C"/>
        </a:solidFill>
      </p:bgPr>
    </p:bg>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2F3C7E"/>
          </a:solidFill>
          <a:ln/>
        </p:spPr>
      </p:sp>
      <p:sp>
        <p:nvSpPr>
          <p:cNvPr id="3" name="Shape 1"/>
          <p:cNvSpPr/>
          <p:nvPr/>
        </p:nvSpPr>
        <p:spPr>
          <a:xfrm>
            <a:off x="9692640" y="-640080"/>
            <a:ext cx="3474720" cy="3474720"/>
          </a:xfrm>
          <a:prstGeom prst="ellipse">
            <a:avLst/>
          </a:prstGeom>
          <a:solidFill>
            <a:srgbClr val="F96167">
              <a:alpha val="85000"/>
            </a:srgbClr>
          </a:solidFill>
          <a:ln/>
        </p:spPr>
      </p:sp>
      <p:sp>
        <p:nvSpPr>
          <p:cNvPr id="4" name="Shape 2"/>
          <p:cNvSpPr/>
          <p:nvPr/>
        </p:nvSpPr>
        <p:spPr>
          <a:xfrm>
            <a:off x="-1280160" y="4572000"/>
            <a:ext cx="4023360" cy="4023360"/>
          </a:xfrm>
          <a:prstGeom prst="ellipse">
            <a:avLst/>
          </a:prstGeom>
          <a:solidFill>
            <a:srgbClr val="2F3C7E"/>
          </a:solidFill>
          <a:ln/>
        </p:spPr>
      </p:sp>
      <p:pic>
        <p:nvPicPr>
          <p:cNvPr id="5" name="Image 0" descr="/home/claude/cuistot_pptx/icons/pot.png">    </p:cNvPr>
          <p:cNvPicPr>
            <a:picLocks noChangeAspect="1"/>
          </p:cNvPicPr>
          <p:nvPr/>
        </p:nvPicPr>
        <p:blipFill>
          <a:blip r:embed="rId1">
            <a:alphaModFix amt="92000"/>
          </a:blip>
          <a:stretch>
            <a:fillRect/>
          </a:stretch>
        </p:blipFill>
        <p:spPr>
          <a:xfrm>
            <a:off x="10195560" y="320040"/>
            <a:ext cx="1691640" cy="1691640"/>
          </a:xfrm>
          <a:prstGeom prst="rect">
            <a:avLst/>
          </a:prstGeom>
        </p:spPr>
      </p:pic>
      <p:sp>
        <p:nvSpPr>
          <p:cNvPr id="6" name="Shape 3"/>
          <p:cNvSpPr/>
          <p:nvPr/>
        </p:nvSpPr>
        <p:spPr>
          <a:xfrm>
            <a:off x="731520" y="640080"/>
            <a:ext cx="566928" cy="566928"/>
          </a:xfrm>
          <a:prstGeom prst="roundRect">
            <a:avLst>
              <a:gd name="adj" fmla="val 19355"/>
            </a:avLst>
          </a:prstGeom>
          <a:solidFill>
            <a:srgbClr val="F96167"/>
          </a:solidFill>
          <a:ln/>
        </p:spPr>
      </p:sp>
      <p:pic>
        <p:nvPicPr>
          <p:cNvPr id="7" name="Image 1" descr="/home/claude/cuistot_pptx/icons/robotArm.png">    </p:cNvPr>
          <p:cNvPicPr>
            <a:picLocks noChangeAspect="1"/>
          </p:cNvPicPr>
          <p:nvPr/>
        </p:nvPicPr>
        <p:blipFill>
          <a:blip r:embed="rId2"/>
          <a:stretch>
            <a:fillRect/>
          </a:stretch>
        </p:blipFill>
        <p:spPr>
          <a:xfrm>
            <a:off x="850392" y="758952"/>
            <a:ext cx="329184" cy="329184"/>
          </a:xfrm>
          <a:prstGeom prst="rect">
            <a:avLst/>
          </a:prstGeom>
        </p:spPr>
      </p:pic>
      <p:sp>
        <p:nvSpPr>
          <p:cNvPr id="8" name="Text 4"/>
          <p:cNvSpPr/>
          <p:nvPr/>
        </p:nvSpPr>
        <p:spPr>
          <a:xfrm>
            <a:off x="1417320" y="658368"/>
            <a:ext cx="5029200" cy="548640"/>
          </a:xfrm>
          <a:prstGeom prst="rect">
            <a:avLst/>
          </a:prstGeom>
          <a:noFill/>
          <a:ln/>
        </p:spPr>
        <p:txBody>
          <a:bodyPr wrap="square" lIns="0" tIns="0" rIns="0" bIns="0" rtlCol="0" anchor="ctr"/>
          <a:lstStyle/>
          <a:p>
            <a:pPr indent="0" marL="0">
              <a:buNone/>
            </a:pPr>
            <a:r>
              <a:rPr lang="en-US" sz="1200" b="1" spc="200" kern="0" dirty="0">
                <a:solidFill>
                  <a:srgbClr val="F9E795"/>
                </a:solidFill>
                <a:latin typeface="Calibri" pitchFamily="34" charset="0"/>
                <a:ea typeface="Calibri" pitchFamily="34" charset="-122"/>
                <a:cs typeface="Calibri" pitchFamily="34" charset="-120"/>
              </a:rPr>
              <a:t>PROJET ROBOTIQUE CULINAIRE</a:t>
            </a:r>
            <a:endParaRPr lang="en-US" sz="1200" dirty="0"/>
          </a:p>
        </p:txBody>
      </p:sp>
      <p:sp>
        <p:nvSpPr>
          <p:cNvPr id="9" name="Text 5"/>
          <p:cNvSpPr/>
          <p:nvPr/>
        </p:nvSpPr>
        <p:spPr>
          <a:xfrm>
            <a:off x="731520" y="233172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CUISTOT AUTOMATIQUE</a:t>
            </a:r>
            <a:endParaRPr lang="en-US" sz="4000" dirty="0"/>
          </a:p>
        </p:txBody>
      </p:sp>
      <p:sp>
        <p:nvSpPr>
          <p:cNvPr id="10" name="Text 6"/>
          <p:cNvSpPr/>
          <p:nvPr/>
        </p:nvSpPr>
        <p:spPr>
          <a:xfrm>
            <a:off x="731520" y="3200400"/>
            <a:ext cx="8686800" cy="640080"/>
          </a:xfrm>
          <a:prstGeom prst="rect">
            <a:avLst/>
          </a:prstGeom>
          <a:noFill/>
          <a:ln/>
        </p:spPr>
        <p:txBody>
          <a:bodyPr wrap="square" lIns="0" tIns="0" rIns="0" bIns="0" rtlCol="0" anchor="ctr"/>
          <a:lstStyle/>
          <a:p>
            <a:pPr indent="0" marL="0">
              <a:buNone/>
            </a:pPr>
            <a:r>
              <a:rPr lang="en-US" sz="1600" i="1" dirty="0">
                <a:solidFill>
                  <a:srgbClr val="F9E795"/>
                </a:solidFill>
                <a:latin typeface="Calibri" pitchFamily="34" charset="0"/>
                <a:ea typeface="Calibri" pitchFamily="34" charset="-122"/>
                <a:cs typeface="Calibri" pitchFamily="34" charset="-120"/>
              </a:rPr>
              <a:t>Système de cuisson automatisée pilotée par vision IA et robotique embarquée</a:t>
            </a:r>
            <a:endParaRPr lang="en-US" sz="1600" dirty="0"/>
          </a:p>
        </p:txBody>
      </p:sp>
      <p:sp>
        <p:nvSpPr>
          <p:cNvPr id="11" name="Text 7"/>
          <p:cNvSpPr/>
          <p:nvPr/>
        </p:nvSpPr>
        <p:spPr>
          <a:xfrm>
            <a:off x="731520" y="3977640"/>
            <a:ext cx="7315200" cy="365760"/>
          </a:xfrm>
          <a:prstGeom prst="rect">
            <a:avLst/>
          </a:prstGeom>
          <a:noFill/>
          <a:ln/>
        </p:spPr>
        <p:txBody>
          <a:bodyPr wrap="square" lIns="0" tIns="0" rIns="0" bIns="0" rtlCol="0" anchor="ctr"/>
          <a:lstStyle/>
          <a:p>
            <a:pPr indent="0" marL="0">
              <a:buNone/>
            </a:pPr>
            <a:r>
              <a:rPr lang="en-US" sz="1300" dirty="0">
                <a:solidFill>
                  <a:srgbClr val="CBD0E8"/>
                </a:solidFill>
                <a:latin typeface="Calibri" pitchFamily="34" charset="0"/>
                <a:ea typeface="Calibri" pitchFamily="34" charset="-122"/>
                <a:cs typeface="Calibri" pitchFamily="34" charset="-120"/>
              </a:rPr>
              <a:t>Projet L2 — Documentation technique</a:t>
            </a:r>
            <a:endParaRPr lang="en-US" sz="1300" dirty="0"/>
          </a:p>
        </p:txBody>
      </p:sp>
      <p:sp>
        <p:nvSpPr>
          <p:cNvPr id="12" name="Text 8"/>
          <p:cNvSpPr/>
          <p:nvPr/>
        </p:nvSpPr>
        <p:spPr>
          <a:xfrm>
            <a:off x="731520" y="4389120"/>
            <a:ext cx="8229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Andriamahefa Vatosoa Firavaka  •  Rafelantsoa Ny Onitiana Carine</a:t>
            </a:r>
            <a:endParaRPr lang="en-US" sz="1300" dirty="0"/>
          </a:p>
        </p:txBody>
      </p:sp>
      <p:sp>
        <p:nvSpPr>
          <p:cNvPr id="13" name="Shape 9"/>
          <p:cNvSpPr/>
          <p:nvPr/>
        </p:nvSpPr>
        <p:spPr>
          <a:xfrm>
            <a:off x="731520" y="5349240"/>
            <a:ext cx="502920" cy="502920"/>
          </a:xfrm>
          <a:prstGeom prst="ellipse">
            <a:avLst/>
          </a:prstGeom>
          <a:solidFill>
            <a:srgbClr val="2A3568"/>
          </a:solidFill>
          <a:ln/>
        </p:spPr>
      </p:sp>
      <p:pic>
        <p:nvPicPr>
          <p:cNvPr id="14" name="Image 2" descr="/home/claude/cuistot_pptx/icons/radar.png">    </p:cNvPr>
          <p:cNvPicPr>
            <a:picLocks noChangeAspect="1"/>
          </p:cNvPicPr>
          <p:nvPr/>
        </p:nvPicPr>
        <p:blipFill>
          <a:blip r:embed="rId3"/>
          <a:stretch>
            <a:fillRect/>
          </a:stretch>
        </p:blipFill>
        <p:spPr>
          <a:xfrm>
            <a:off x="841248" y="5458968"/>
            <a:ext cx="283464" cy="283464"/>
          </a:xfrm>
          <a:prstGeom prst="rect">
            <a:avLst/>
          </a:prstGeom>
        </p:spPr>
      </p:pic>
      <p:sp>
        <p:nvSpPr>
          <p:cNvPr id="15" name="Text 10"/>
          <p:cNvSpPr/>
          <p:nvPr/>
        </p:nvSpPr>
        <p:spPr>
          <a:xfrm>
            <a:off x="457200" y="5897880"/>
            <a:ext cx="1051560" cy="274320"/>
          </a:xfrm>
          <a:prstGeom prst="rect">
            <a:avLst/>
          </a:prstGeom>
          <a:noFill/>
          <a:ln/>
        </p:spPr>
        <p:txBody>
          <a:bodyPr wrap="square" lIns="0" tIns="0" rIns="0" bIns="0" rtlCol="0" anchor="ctr"/>
          <a:lstStyle/>
          <a:p>
            <a:pPr algn="ctr" indent="0" marL="0">
              <a:buNone/>
            </a:pPr>
            <a:r>
              <a:rPr lang="en-US" sz="950" dirty="0">
                <a:solidFill>
                  <a:srgbClr val="9AA2CC"/>
                </a:solidFill>
                <a:latin typeface="Calibri" pitchFamily="34" charset="0"/>
                <a:ea typeface="Calibri" pitchFamily="34" charset="-122"/>
                <a:cs typeface="Calibri" pitchFamily="34" charset="-120"/>
              </a:rPr>
              <a:t>Détection</a:t>
            </a:r>
            <a:endParaRPr lang="en-US" sz="950" dirty="0"/>
          </a:p>
        </p:txBody>
      </p:sp>
      <p:sp>
        <p:nvSpPr>
          <p:cNvPr id="16" name="Shape 11"/>
          <p:cNvSpPr/>
          <p:nvPr/>
        </p:nvSpPr>
        <p:spPr>
          <a:xfrm>
            <a:off x="2423160" y="5349240"/>
            <a:ext cx="502920" cy="502920"/>
          </a:xfrm>
          <a:prstGeom prst="ellipse">
            <a:avLst/>
          </a:prstGeom>
          <a:solidFill>
            <a:srgbClr val="2A3568"/>
          </a:solidFill>
          <a:ln/>
        </p:spPr>
      </p:sp>
      <p:pic>
        <p:nvPicPr>
          <p:cNvPr id="17" name="Image 3" descr="/home/claude/cuistot_pptx/icons/camera.png">    </p:cNvPr>
          <p:cNvPicPr>
            <a:picLocks noChangeAspect="1"/>
          </p:cNvPicPr>
          <p:nvPr/>
        </p:nvPicPr>
        <p:blipFill>
          <a:blip r:embed="rId4"/>
          <a:stretch>
            <a:fillRect/>
          </a:stretch>
        </p:blipFill>
        <p:spPr>
          <a:xfrm>
            <a:off x="2532888" y="5458968"/>
            <a:ext cx="283464" cy="283464"/>
          </a:xfrm>
          <a:prstGeom prst="rect">
            <a:avLst/>
          </a:prstGeom>
        </p:spPr>
      </p:pic>
      <p:sp>
        <p:nvSpPr>
          <p:cNvPr id="18" name="Text 12"/>
          <p:cNvSpPr/>
          <p:nvPr/>
        </p:nvSpPr>
        <p:spPr>
          <a:xfrm>
            <a:off x="2148840" y="5897880"/>
            <a:ext cx="1051560" cy="274320"/>
          </a:xfrm>
          <a:prstGeom prst="rect">
            <a:avLst/>
          </a:prstGeom>
          <a:noFill/>
          <a:ln/>
        </p:spPr>
        <p:txBody>
          <a:bodyPr wrap="square" lIns="0" tIns="0" rIns="0" bIns="0" rtlCol="0" anchor="ctr"/>
          <a:lstStyle/>
          <a:p>
            <a:pPr algn="ctr" indent="0" marL="0">
              <a:buNone/>
            </a:pPr>
            <a:r>
              <a:rPr lang="en-US" sz="950" dirty="0">
                <a:solidFill>
                  <a:srgbClr val="9AA2CC"/>
                </a:solidFill>
                <a:latin typeface="Calibri" pitchFamily="34" charset="0"/>
                <a:ea typeface="Calibri" pitchFamily="34" charset="-122"/>
                <a:cs typeface="Calibri" pitchFamily="34" charset="-120"/>
              </a:rPr>
              <a:t>Vision IA</a:t>
            </a:r>
            <a:endParaRPr lang="en-US" sz="950" dirty="0"/>
          </a:p>
        </p:txBody>
      </p:sp>
      <p:sp>
        <p:nvSpPr>
          <p:cNvPr id="19" name="Shape 13"/>
          <p:cNvSpPr/>
          <p:nvPr/>
        </p:nvSpPr>
        <p:spPr>
          <a:xfrm>
            <a:off x="4114800" y="5349240"/>
            <a:ext cx="502920" cy="502920"/>
          </a:xfrm>
          <a:prstGeom prst="ellipse">
            <a:avLst/>
          </a:prstGeom>
          <a:solidFill>
            <a:srgbClr val="2A3568"/>
          </a:solidFill>
          <a:ln/>
        </p:spPr>
      </p:sp>
      <p:pic>
        <p:nvPicPr>
          <p:cNvPr id="20" name="Image 4" descr="/home/claude/cuistot_pptx/icons/fire.png">    </p:cNvPr>
          <p:cNvPicPr>
            <a:picLocks noChangeAspect="1"/>
          </p:cNvPicPr>
          <p:nvPr/>
        </p:nvPicPr>
        <p:blipFill>
          <a:blip r:embed="rId5"/>
          <a:stretch>
            <a:fillRect/>
          </a:stretch>
        </p:blipFill>
        <p:spPr>
          <a:xfrm>
            <a:off x="4224528" y="5458968"/>
            <a:ext cx="283464" cy="283464"/>
          </a:xfrm>
          <a:prstGeom prst="rect">
            <a:avLst/>
          </a:prstGeom>
        </p:spPr>
      </p:pic>
      <p:sp>
        <p:nvSpPr>
          <p:cNvPr id="21" name="Text 14"/>
          <p:cNvSpPr/>
          <p:nvPr/>
        </p:nvSpPr>
        <p:spPr>
          <a:xfrm>
            <a:off x="3840480" y="5897880"/>
            <a:ext cx="1051560" cy="274320"/>
          </a:xfrm>
          <a:prstGeom prst="rect">
            <a:avLst/>
          </a:prstGeom>
          <a:noFill/>
          <a:ln/>
        </p:spPr>
        <p:txBody>
          <a:bodyPr wrap="square" lIns="0" tIns="0" rIns="0" bIns="0" rtlCol="0" anchor="ctr"/>
          <a:lstStyle/>
          <a:p>
            <a:pPr algn="ctr" indent="0" marL="0">
              <a:buNone/>
            </a:pPr>
            <a:r>
              <a:rPr lang="en-US" sz="950" dirty="0">
                <a:solidFill>
                  <a:srgbClr val="9AA2CC"/>
                </a:solidFill>
                <a:latin typeface="Calibri" pitchFamily="34" charset="0"/>
                <a:ea typeface="Calibri" pitchFamily="34" charset="-122"/>
                <a:cs typeface="Calibri" pitchFamily="34" charset="-120"/>
              </a:rPr>
              <a:t>Chauffage</a:t>
            </a:r>
            <a:endParaRPr lang="en-US" sz="950" dirty="0"/>
          </a:p>
        </p:txBody>
      </p:sp>
      <p:sp>
        <p:nvSpPr>
          <p:cNvPr id="22" name="Shape 15"/>
          <p:cNvSpPr/>
          <p:nvPr/>
        </p:nvSpPr>
        <p:spPr>
          <a:xfrm>
            <a:off x="5806440" y="5349240"/>
            <a:ext cx="502920" cy="502920"/>
          </a:xfrm>
          <a:prstGeom prst="ellipse">
            <a:avLst/>
          </a:prstGeom>
          <a:solidFill>
            <a:srgbClr val="2A3568"/>
          </a:solidFill>
          <a:ln/>
        </p:spPr>
      </p:sp>
      <p:pic>
        <p:nvPicPr>
          <p:cNvPr id="23" name="Image 5" descr="/home/claude/cuistot_pptx/icons/waterDrop.png">    </p:cNvPr>
          <p:cNvPicPr>
            <a:picLocks noChangeAspect="1"/>
          </p:cNvPicPr>
          <p:nvPr/>
        </p:nvPicPr>
        <p:blipFill>
          <a:blip r:embed="rId6"/>
          <a:stretch>
            <a:fillRect/>
          </a:stretch>
        </p:blipFill>
        <p:spPr>
          <a:xfrm>
            <a:off x="5916168" y="5458968"/>
            <a:ext cx="283464" cy="283464"/>
          </a:xfrm>
          <a:prstGeom prst="rect">
            <a:avLst/>
          </a:prstGeom>
        </p:spPr>
      </p:pic>
      <p:sp>
        <p:nvSpPr>
          <p:cNvPr id="24" name="Text 16"/>
          <p:cNvSpPr/>
          <p:nvPr/>
        </p:nvSpPr>
        <p:spPr>
          <a:xfrm>
            <a:off x="5532120" y="5897880"/>
            <a:ext cx="1051560" cy="274320"/>
          </a:xfrm>
          <a:prstGeom prst="rect">
            <a:avLst/>
          </a:prstGeom>
          <a:noFill/>
          <a:ln/>
        </p:spPr>
        <p:txBody>
          <a:bodyPr wrap="square" lIns="0" tIns="0" rIns="0" bIns="0" rtlCol="0" anchor="ctr"/>
          <a:lstStyle/>
          <a:p>
            <a:pPr algn="ctr" indent="0" marL="0">
              <a:buNone/>
            </a:pPr>
            <a:r>
              <a:rPr lang="en-US" sz="950" dirty="0">
                <a:solidFill>
                  <a:srgbClr val="9AA2CC"/>
                </a:solidFill>
                <a:latin typeface="Calibri" pitchFamily="34" charset="0"/>
                <a:ea typeface="Calibri" pitchFamily="34" charset="-122"/>
                <a:cs typeface="Calibri" pitchFamily="34" charset="-120"/>
              </a:rPr>
              <a:t>Dosage</a:t>
            </a:r>
            <a:endParaRPr lang="en-US" sz="950" dirty="0"/>
          </a:p>
        </p:txBody>
      </p:sp>
      <p:sp>
        <p:nvSpPr>
          <p:cNvPr id="25" name="Shape 17"/>
          <p:cNvSpPr/>
          <p:nvPr/>
        </p:nvSpPr>
        <p:spPr>
          <a:xfrm>
            <a:off x="7498080" y="5349240"/>
            <a:ext cx="502920" cy="502920"/>
          </a:xfrm>
          <a:prstGeom prst="ellipse">
            <a:avLst/>
          </a:prstGeom>
          <a:solidFill>
            <a:srgbClr val="2A3568"/>
          </a:solidFill>
          <a:ln/>
        </p:spPr>
      </p:sp>
      <p:pic>
        <p:nvPicPr>
          <p:cNvPr id="26" name="Image 6" descr="/home/claude/cuistot_pptx/icons/stirringSpoon.png">    </p:cNvPr>
          <p:cNvPicPr>
            <a:picLocks noChangeAspect="1"/>
          </p:cNvPicPr>
          <p:nvPr/>
        </p:nvPicPr>
        <p:blipFill>
          <a:blip r:embed="rId7"/>
          <a:stretch>
            <a:fillRect/>
          </a:stretch>
        </p:blipFill>
        <p:spPr>
          <a:xfrm>
            <a:off x="7607808" y="5458968"/>
            <a:ext cx="283464" cy="283464"/>
          </a:xfrm>
          <a:prstGeom prst="rect">
            <a:avLst/>
          </a:prstGeom>
        </p:spPr>
      </p:pic>
      <p:sp>
        <p:nvSpPr>
          <p:cNvPr id="27" name="Text 18"/>
          <p:cNvSpPr/>
          <p:nvPr/>
        </p:nvSpPr>
        <p:spPr>
          <a:xfrm>
            <a:off x="7223760" y="5897880"/>
            <a:ext cx="1051560" cy="274320"/>
          </a:xfrm>
          <a:prstGeom prst="rect">
            <a:avLst/>
          </a:prstGeom>
          <a:noFill/>
          <a:ln/>
        </p:spPr>
        <p:txBody>
          <a:bodyPr wrap="square" lIns="0" tIns="0" rIns="0" bIns="0" rtlCol="0" anchor="ctr"/>
          <a:lstStyle/>
          <a:p>
            <a:pPr algn="ctr" indent="0" marL="0">
              <a:buNone/>
            </a:pPr>
            <a:r>
              <a:rPr lang="en-US" sz="950" dirty="0">
                <a:solidFill>
                  <a:srgbClr val="9AA2CC"/>
                </a:solidFill>
                <a:latin typeface="Calibri" pitchFamily="34" charset="0"/>
                <a:ea typeface="Calibri" pitchFamily="34" charset="-122"/>
                <a:cs typeface="Calibri" pitchFamily="34" charset="-120"/>
              </a:rPr>
              <a:t>Mélange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222B5C"/>
                </a:solidFill>
                <a:latin typeface="Bookman Old Style" pitchFamily="34" charset="0"/>
                <a:ea typeface="Bookman Old Style" pitchFamily="34" charset="-122"/>
                <a:cs typeface="Bookman Old Style" pitchFamily="34" charset="-120"/>
              </a:rPr>
              <a:t>Vue d'ensemble</a:t>
            </a:r>
            <a:endParaRPr lang="en-US" sz="3200" dirty="0"/>
          </a:p>
        </p:txBody>
      </p:sp>
      <p:sp>
        <p:nvSpPr>
          <p:cNvPr id="3" name="Text 1"/>
          <p:cNvSpPr/>
          <p:nvPr/>
        </p:nvSpPr>
        <p:spPr>
          <a:xfrm>
            <a:off x="548640" y="1051560"/>
            <a:ext cx="11064240" cy="640080"/>
          </a:xfrm>
          <a:prstGeom prst="rect">
            <a:avLst/>
          </a:prstGeom>
          <a:noFill/>
          <a:ln/>
        </p:spPr>
        <p:txBody>
          <a:bodyPr wrap="square" lIns="0" tIns="0" rIns="0" bIns="0" rtlCol="0" anchor="ctr"/>
          <a:lstStyle/>
          <a:p>
            <a:pPr indent="0" marL="0">
              <a:lnSpc>
                <a:spcPct val="115000"/>
              </a:lnSpc>
              <a:buNone/>
            </a:pPr>
            <a:r>
              <a:rPr lang="en-US" sz="1350" dirty="0">
                <a:solidFill>
                  <a:srgbClr val="5B5F73"/>
                </a:solidFill>
                <a:latin typeface="Calibri" pitchFamily="34" charset="0"/>
                <a:ea typeface="Calibri" pitchFamily="34" charset="-122"/>
                <a:cs typeface="Calibri" pitchFamily="34" charset="-120"/>
              </a:rPr>
              <a:t>L'utilisateur place des ingrédients bruts (non épluchés, non coupés). Un capteur détecte l'ajout, une photo est prise, une IA identifie les ingrédients et propose des plats réalisables, décomposés en deux phases.</a:t>
            </a:r>
            <a:endParaRPr lang="en-US" sz="1350" dirty="0"/>
          </a:p>
        </p:txBody>
      </p:sp>
      <p:sp>
        <p:nvSpPr>
          <p:cNvPr id="4" name="Shape 2"/>
          <p:cNvSpPr/>
          <p:nvPr/>
        </p:nvSpPr>
        <p:spPr>
          <a:xfrm>
            <a:off x="548640" y="1965960"/>
            <a:ext cx="5349240" cy="4114800"/>
          </a:xfrm>
          <a:prstGeom prst="roundRect">
            <a:avLst>
              <a:gd name="adj" fmla="val 2667"/>
            </a:avLst>
          </a:prstGeom>
          <a:solidFill>
            <a:srgbClr val="FFFFFF"/>
          </a:solidFill>
          <a:ln w="12700">
            <a:solidFill>
              <a:srgbClr val="EDEDF2"/>
            </a:solidFill>
            <a:prstDash val="solid"/>
          </a:ln>
          <a:effectLst>
            <a:outerShdw sx="100000" sy="100000" kx="0" ky="0" algn="bl" rotWithShape="0" blurRad="101600" dist="38100" dir="5400000">
              <a:srgbClr val="444444">
                <a:alpha val="18000"/>
              </a:srgbClr>
            </a:outerShdw>
          </a:effectLst>
        </p:spPr>
      </p:sp>
      <p:sp>
        <p:nvSpPr>
          <p:cNvPr id="5" name="Shape 3"/>
          <p:cNvSpPr/>
          <p:nvPr/>
        </p:nvSpPr>
        <p:spPr>
          <a:xfrm>
            <a:off x="868680" y="2286000"/>
            <a:ext cx="548640" cy="548640"/>
          </a:xfrm>
          <a:prstGeom prst="ellipse">
            <a:avLst/>
          </a:prstGeom>
          <a:solidFill>
            <a:srgbClr val="F9E795"/>
          </a:solidFill>
          <a:ln/>
        </p:spPr>
      </p:sp>
      <p:pic>
        <p:nvPicPr>
          <p:cNvPr id="6" name="Image 0" descr="/home/claude/cuistot_pptx/icons/chefHatNavy.png">    </p:cNvPr>
          <p:cNvPicPr>
            <a:picLocks noChangeAspect="1"/>
          </p:cNvPicPr>
          <p:nvPr/>
        </p:nvPicPr>
        <p:blipFill>
          <a:blip r:embed="rId1"/>
          <a:stretch>
            <a:fillRect/>
          </a:stretch>
        </p:blipFill>
        <p:spPr>
          <a:xfrm>
            <a:off x="987552" y="2404872"/>
            <a:ext cx="310896" cy="310896"/>
          </a:xfrm>
          <a:prstGeom prst="rect">
            <a:avLst/>
          </a:prstGeom>
        </p:spPr>
      </p:pic>
      <p:sp>
        <p:nvSpPr>
          <p:cNvPr id="7" name="Text 4"/>
          <p:cNvSpPr/>
          <p:nvPr/>
        </p:nvSpPr>
        <p:spPr>
          <a:xfrm>
            <a:off x="1600200" y="2331720"/>
            <a:ext cx="384048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PHASE 1 — HUMAINE</a:t>
            </a:r>
            <a:endParaRPr lang="en-US" sz="1500" dirty="0"/>
          </a:p>
        </p:txBody>
      </p:sp>
      <p:sp>
        <p:nvSpPr>
          <p:cNvPr id="8" name="Text 5"/>
          <p:cNvSpPr/>
          <p:nvPr/>
        </p:nvSpPr>
        <p:spPr>
          <a:xfrm>
            <a:off x="1600200" y="2624328"/>
            <a:ext cx="3840480" cy="274320"/>
          </a:xfrm>
          <a:prstGeom prst="rect">
            <a:avLst/>
          </a:prstGeom>
          <a:noFill/>
          <a:ln/>
        </p:spPr>
        <p:txBody>
          <a:bodyPr wrap="square" lIns="0" tIns="0" rIns="0" bIns="0" rtlCol="0" anchor="ctr"/>
          <a:lstStyle/>
          <a:p>
            <a:pPr indent="0" marL="0">
              <a:buNone/>
            </a:pPr>
            <a:r>
              <a:rPr lang="en-US" sz="1100" i="1" dirty="0">
                <a:solidFill>
                  <a:srgbClr val="5B5F73"/>
                </a:solidFill>
                <a:latin typeface="Calibri" pitchFamily="34" charset="0"/>
                <a:ea typeface="Calibri" pitchFamily="34" charset="-122"/>
                <a:cs typeface="Calibri" pitchFamily="34" charset="-120"/>
              </a:rPr>
              <a:t>Préparation manuelle avant dépôt</a:t>
            </a:r>
            <a:endParaRPr lang="en-US" sz="1100" dirty="0"/>
          </a:p>
        </p:txBody>
      </p:sp>
      <p:sp>
        <p:nvSpPr>
          <p:cNvPr id="9" name="Text 6"/>
          <p:cNvSpPr/>
          <p:nvPr/>
        </p:nvSpPr>
        <p:spPr>
          <a:xfrm>
            <a:off x="868680" y="3108960"/>
            <a:ext cx="4709160" cy="155448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5B5F73"/>
                </a:solidFill>
                <a:latin typeface="Calibri" pitchFamily="34" charset="0"/>
                <a:ea typeface="Calibri" pitchFamily="34" charset="-122"/>
                <a:cs typeface="Calibri" pitchFamily="34" charset="-120"/>
              </a:rPr>
              <a:t>Éplucher les ingrédients</a:t>
            </a:r>
            <a:endParaRPr lang="en-US" sz="1350" dirty="0"/>
          </a:p>
          <a:p>
            <a:pPr marL="177800" indent="-177800">
              <a:spcAft>
                <a:spcPts val="1000"/>
              </a:spcAft>
              <a:buSzPct val="100000"/>
              <a:buChar char="•"/>
            </a:pPr>
            <a:r>
              <a:rPr lang="en-US" sz="1350" dirty="0">
                <a:solidFill>
                  <a:srgbClr val="5B5F73"/>
                </a:solidFill>
                <a:latin typeface="Calibri" pitchFamily="34" charset="0"/>
                <a:ea typeface="Calibri" pitchFamily="34" charset="-122"/>
                <a:cs typeface="Calibri" pitchFamily="34" charset="-120"/>
              </a:rPr>
              <a:t>Couper aux bonnes tailles</a:t>
            </a:r>
            <a:endParaRPr lang="en-US" sz="1350" dirty="0"/>
          </a:p>
          <a:p>
            <a:pPr marL="177800" indent="-177800">
              <a:spcAft>
                <a:spcPts val="1000"/>
              </a:spcAft>
              <a:buSzPct val="100000"/>
              <a:buChar char="•"/>
            </a:pPr>
            <a:r>
              <a:rPr lang="en-US" sz="1350" dirty="0">
                <a:solidFill>
                  <a:srgbClr val="5B5F73"/>
                </a:solidFill>
                <a:latin typeface="Calibri" pitchFamily="34" charset="0"/>
                <a:ea typeface="Calibri" pitchFamily="34" charset="-122"/>
                <a:cs typeface="Calibri" pitchFamily="34" charset="-120"/>
              </a:rPr>
              <a:t>Laver si nécessaire</a:t>
            </a:r>
            <a:endParaRPr lang="en-US" sz="1350" dirty="0"/>
          </a:p>
          <a:p>
            <a:pPr marL="177800" indent="-177800">
              <a:spcAft>
                <a:spcPts val="1000"/>
              </a:spcAft>
              <a:buSzPct val="100000"/>
              <a:buChar char="•"/>
            </a:pPr>
            <a:r>
              <a:rPr lang="en-US" sz="1350" dirty="0">
                <a:solidFill>
                  <a:srgbClr val="5B5F73"/>
                </a:solidFill>
                <a:latin typeface="Calibri" pitchFamily="34" charset="0"/>
                <a:ea typeface="Calibri" pitchFamily="34" charset="-122"/>
                <a:cs typeface="Calibri" pitchFamily="34" charset="-120"/>
              </a:rPr>
              <a:t>Déposer dans le cuiseur une fois prêts</a:t>
            </a:r>
            <a:endParaRPr lang="en-US" sz="1350" dirty="0"/>
          </a:p>
        </p:txBody>
      </p:sp>
      <p:sp>
        <p:nvSpPr>
          <p:cNvPr id="10" name="Shape 7"/>
          <p:cNvSpPr/>
          <p:nvPr/>
        </p:nvSpPr>
        <p:spPr>
          <a:xfrm>
            <a:off x="868680" y="5303520"/>
            <a:ext cx="4709160" cy="18288"/>
          </a:xfrm>
          <a:prstGeom prst="rect">
            <a:avLst/>
          </a:prstGeom>
          <a:solidFill>
            <a:srgbClr val="EDEDF2"/>
          </a:solidFill>
          <a:ln/>
        </p:spPr>
      </p:sp>
      <p:sp>
        <p:nvSpPr>
          <p:cNvPr id="11" name="Text 8"/>
          <p:cNvSpPr/>
          <p:nvPr/>
        </p:nvSpPr>
        <p:spPr>
          <a:xfrm>
            <a:off x="868680" y="5440680"/>
            <a:ext cx="4709160" cy="457200"/>
          </a:xfrm>
          <a:prstGeom prst="rect">
            <a:avLst/>
          </a:prstGeom>
          <a:noFill/>
          <a:ln/>
        </p:spPr>
        <p:txBody>
          <a:bodyPr wrap="square" lIns="0" tIns="0" rIns="0" bIns="0" rtlCol="0" anchor="ctr"/>
          <a:lstStyle/>
          <a:p>
            <a:pPr indent="0" marL="0">
              <a:buNone/>
            </a:pPr>
            <a:r>
              <a:rPr lang="en-US" sz="1100" i="1" dirty="0">
                <a:solidFill>
                  <a:srgbClr val="2F3C7E"/>
                </a:solidFill>
                <a:latin typeface="Calibri" pitchFamily="34" charset="0"/>
                <a:ea typeface="Calibri" pitchFamily="34" charset="-122"/>
                <a:cs typeface="Calibri" pitchFamily="34" charset="-120"/>
              </a:rPr>
              <a:t>Instructions générées par l'IA à partir d'une seule photo</a:t>
            </a:r>
            <a:endParaRPr lang="en-US" sz="1100" dirty="0"/>
          </a:p>
        </p:txBody>
      </p:sp>
      <p:sp>
        <p:nvSpPr>
          <p:cNvPr id="12" name="Shape 9"/>
          <p:cNvSpPr/>
          <p:nvPr/>
        </p:nvSpPr>
        <p:spPr>
          <a:xfrm>
            <a:off x="6263640" y="1965960"/>
            <a:ext cx="5349240" cy="4114800"/>
          </a:xfrm>
          <a:prstGeom prst="roundRect">
            <a:avLst>
              <a:gd name="adj" fmla="val 2667"/>
            </a:avLst>
          </a:prstGeom>
          <a:solidFill>
            <a:srgbClr val="222B5C"/>
          </a:solidFill>
          <a:ln/>
          <a:effectLst>
            <a:outerShdw sx="100000" sy="100000" kx="0" ky="0" algn="bl" rotWithShape="0" blurRad="101600" dist="38100" dir="5400000">
              <a:srgbClr val="444444">
                <a:alpha val="22000"/>
              </a:srgbClr>
            </a:outerShdw>
          </a:effectLst>
        </p:spPr>
      </p:sp>
      <p:sp>
        <p:nvSpPr>
          <p:cNvPr id="13" name="Shape 10"/>
          <p:cNvSpPr/>
          <p:nvPr/>
        </p:nvSpPr>
        <p:spPr>
          <a:xfrm>
            <a:off x="6583680" y="2286000"/>
            <a:ext cx="548640" cy="548640"/>
          </a:xfrm>
          <a:prstGeom prst="ellipse">
            <a:avLst/>
          </a:prstGeom>
          <a:solidFill>
            <a:srgbClr val="F96167"/>
          </a:solidFill>
          <a:ln/>
        </p:spPr>
      </p:sp>
      <p:pic>
        <p:nvPicPr>
          <p:cNvPr id="14" name="Image 1" descr="/home/claude/cuistot_pptx/icons/robotArm.png">    </p:cNvPr>
          <p:cNvPicPr>
            <a:picLocks noChangeAspect="1"/>
          </p:cNvPicPr>
          <p:nvPr/>
        </p:nvPicPr>
        <p:blipFill>
          <a:blip r:embed="rId2"/>
          <a:stretch>
            <a:fillRect/>
          </a:stretch>
        </p:blipFill>
        <p:spPr>
          <a:xfrm>
            <a:off x="6702552" y="2404872"/>
            <a:ext cx="310896" cy="310896"/>
          </a:xfrm>
          <a:prstGeom prst="rect">
            <a:avLst/>
          </a:prstGeom>
        </p:spPr>
      </p:pic>
      <p:sp>
        <p:nvSpPr>
          <p:cNvPr id="15" name="Text 11"/>
          <p:cNvSpPr/>
          <p:nvPr/>
        </p:nvSpPr>
        <p:spPr>
          <a:xfrm>
            <a:off x="7315200" y="2331720"/>
            <a:ext cx="38404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PHASE 2 — ROBOT</a:t>
            </a:r>
            <a:endParaRPr lang="en-US" sz="1500" dirty="0"/>
          </a:p>
        </p:txBody>
      </p:sp>
      <p:sp>
        <p:nvSpPr>
          <p:cNvPr id="16" name="Text 12"/>
          <p:cNvSpPr/>
          <p:nvPr/>
        </p:nvSpPr>
        <p:spPr>
          <a:xfrm>
            <a:off x="7315200" y="2624328"/>
            <a:ext cx="3840480" cy="274320"/>
          </a:xfrm>
          <a:prstGeom prst="rect">
            <a:avLst/>
          </a:prstGeom>
          <a:noFill/>
          <a:ln/>
        </p:spPr>
        <p:txBody>
          <a:bodyPr wrap="square" lIns="0" tIns="0" rIns="0" bIns="0" rtlCol="0" anchor="ctr"/>
          <a:lstStyle/>
          <a:p>
            <a:pPr indent="0" marL="0">
              <a:buNone/>
            </a:pPr>
            <a:r>
              <a:rPr lang="en-US" sz="1100" i="1" dirty="0">
                <a:solidFill>
                  <a:srgbClr val="F9E795"/>
                </a:solidFill>
                <a:latin typeface="Calibri" pitchFamily="34" charset="0"/>
                <a:ea typeface="Calibri" pitchFamily="34" charset="-122"/>
                <a:cs typeface="Calibri" pitchFamily="34" charset="-120"/>
              </a:rPr>
              <a:t>Exécution automatique, sans intervention</a:t>
            </a:r>
            <a:endParaRPr lang="en-US" sz="1100" dirty="0"/>
          </a:p>
        </p:txBody>
      </p:sp>
      <p:sp>
        <p:nvSpPr>
          <p:cNvPr id="17" name="Text 13"/>
          <p:cNvSpPr/>
          <p:nvPr/>
        </p:nvSpPr>
        <p:spPr>
          <a:xfrm>
            <a:off x="6583680" y="3108960"/>
            <a:ext cx="4709160" cy="155448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E7E9F5"/>
                </a:solidFill>
                <a:latin typeface="Calibri" pitchFamily="34" charset="0"/>
                <a:ea typeface="Calibri" pitchFamily="34" charset="-122"/>
                <a:cs typeface="Calibri" pitchFamily="34" charset="-120"/>
              </a:rPr>
              <a:t>Chauffage de la préparation</a:t>
            </a:r>
            <a:endParaRPr lang="en-US" sz="1350" dirty="0"/>
          </a:p>
          <a:p>
            <a:pPr marL="177800" indent="-177800">
              <a:spcAft>
                <a:spcPts val="1000"/>
              </a:spcAft>
              <a:buSzPct val="100000"/>
              <a:buChar char="•"/>
            </a:pPr>
            <a:r>
              <a:rPr lang="en-US" sz="1350" dirty="0">
                <a:solidFill>
                  <a:srgbClr val="E7E9F5"/>
                </a:solidFill>
                <a:latin typeface="Calibri" pitchFamily="34" charset="0"/>
                <a:ea typeface="Calibri" pitchFamily="34" charset="-122"/>
                <a:cs typeface="Calibri" pitchFamily="34" charset="-120"/>
              </a:rPr>
              <a:t>Dosage liquide et condiments</a:t>
            </a:r>
            <a:endParaRPr lang="en-US" sz="1350" dirty="0"/>
          </a:p>
          <a:p>
            <a:pPr marL="177800" indent="-177800">
              <a:spcAft>
                <a:spcPts val="1000"/>
              </a:spcAft>
              <a:buSzPct val="100000"/>
              <a:buChar char="•"/>
            </a:pPr>
            <a:r>
              <a:rPr lang="en-US" sz="1350" dirty="0">
                <a:solidFill>
                  <a:srgbClr val="E7E9F5"/>
                </a:solidFill>
                <a:latin typeface="Calibri" pitchFamily="34" charset="0"/>
                <a:ea typeface="Calibri" pitchFamily="34" charset="-122"/>
                <a:cs typeface="Calibri" pitchFamily="34" charset="-120"/>
              </a:rPr>
              <a:t>Mélange du contenu</a:t>
            </a:r>
            <a:endParaRPr lang="en-US" sz="1350" dirty="0"/>
          </a:p>
          <a:p>
            <a:pPr marL="177800" indent="-177800">
              <a:spcAft>
                <a:spcPts val="1000"/>
              </a:spcAft>
              <a:buSzPct val="100000"/>
              <a:buChar char="•"/>
            </a:pPr>
            <a:r>
              <a:rPr lang="en-US" sz="1350" dirty="0">
                <a:solidFill>
                  <a:srgbClr val="E7E9F5"/>
                </a:solidFill>
                <a:latin typeface="Calibri" pitchFamily="34" charset="0"/>
                <a:ea typeface="Calibri" pitchFamily="34" charset="-122"/>
                <a:cs typeface="Calibri" pitchFamily="34" charset="-120"/>
              </a:rPr>
              <a:t>Aucune intervention humaine pendant l'exécution</a:t>
            </a:r>
            <a:endParaRPr lang="en-US" sz="1350" dirty="0"/>
          </a:p>
        </p:txBody>
      </p:sp>
      <p:sp>
        <p:nvSpPr>
          <p:cNvPr id="18" name="Shape 14"/>
          <p:cNvSpPr/>
          <p:nvPr/>
        </p:nvSpPr>
        <p:spPr>
          <a:xfrm>
            <a:off x="6583680" y="5303520"/>
            <a:ext cx="4709160" cy="18288"/>
          </a:xfrm>
          <a:prstGeom prst="rect">
            <a:avLst/>
          </a:prstGeom>
          <a:solidFill>
            <a:srgbClr val="444B7A"/>
          </a:solidFill>
          <a:ln/>
        </p:spPr>
      </p:sp>
      <p:sp>
        <p:nvSpPr>
          <p:cNvPr id="19" name="Text 15"/>
          <p:cNvSpPr/>
          <p:nvPr/>
        </p:nvSpPr>
        <p:spPr>
          <a:xfrm>
            <a:off x="6583680" y="5440680"/>
            <a:ext cx="4709160" cy="457200"/>
          </a:xfrm>
          <a:prstGeom prst="rect">
            <a:avLst/>
          </a:prstGeom>
          <a:noFill/>
          <a:ln/>
        </p:spPr>
        <p:txBody>
          <a:bodyPr wrap="square" lIns="0" tIns="0" rIns="0" bIns="0" rtlCol="0" anchor="ctr"/>
          <a:lstStyle/>
          <a:p>
            <a:pPr indent="0" marL="0">
              <a:buNone/>
            </a:pPr>
            <a:r>
              <a:rPr lang="en-US" sz="1100" i="1" dirty="0">
                <a:solidFill>
                  <a:srgbClr val="F9E795"/>
                </a:solidFill>
                <a:latin typeface="Calibri" pitchFamily="34" charset="0"/>
                <a:ea typeface="Calibri" pitchFamily="34" charset="-122"/>
                <a:cs typeface="Calibri" pitchFamily="34" charset="-120"/>
              </a:rPr>
              <a:t>Le robot traite le récipient dans son ensemble, comme un autocuiseur intelligent</a:t>
            </a:r>
            <a:endParaRPr lang="en-US" sz="1100" dirty="0"/>
          </a:p>
        </p:txBody>
      </p:sp>
      <p:sp>
        <p:nvSpPr>
          <p:cNvPr id="20" name="Text 16"/>
          <p:cNvSpPr/>
          <p:nvPr/>
        </p:nvSpPr>
        <p:spPr>
          <a:xfrm>
            <a:off x="11064240" y="6510528"/>
            <a:ext cx="914400" cy="274320"/>
          </a:xfrm>
          <a:prstGeom prst="rect">
            <a:avLst/>
          </a:prstGeom>
          <a:noFill/>
          <a:ln/>
        </p:spPr>
        <p:txBody>
          <a:bodyPr wrap="square" lIns="0" tIns="0" rIns="0" bIns="0" rtlCol="0" anchor="ctr"/>
          <a:lstStyle/>
          <a:p>
            <a:pPr algn="r" indent="0" marL="0">
              <a:buNone/>
            </a:pPr>
            <a:r>
              <a:rPr lang="en-US" sz="1000" dirty="0">
                <a:solidFill>
                  <a:srgbClr val="5B5F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222B5C"/>
                </a:solidFill>
                <a:latin typeface="Bookman Old Style" pitchFamily="34" charset="0"/>
                <a:ea typeface="Bookman Old Style" pitchFamily="34" charset="-122"/>
                <a:cs typeface="Bookman Old Style" pitchFamily="34" charset="-120"/>
              </a:rPr>
              <a:t>Flux du système</a:t>
            </a:r>
            <a:endParaRPr lang="en-US" sz="3200" dirty="0"/>
          </a:p>
        </p:txBody>
      </p:sp>
      <p:sp>
        <p:nvSpPr>
          <p:cNvPr id="3" name="Text 1"/>
          <p:cNvSpPr/>
          <p:nvPr/>
        </p:nvSpPr>
        <p:spPr>
          <a:xfrm>
            <a:off x="548640" y="1051560"/>
            <a:ext cx="11064240" cy="457200"/>
          </a:xfrm>
          <a:prstGeom prst="rect">
            <a:avLst/>
          </a:prstGeom>
          <a:noFill/>
          <a:ln/>
        </p:spPr>
        <p:txBody>
          <a:bodyPr wrap="square" lIns="0" tIns="0" rIns="0" bIns="0" rtlCol="0" anchor="ctr"/>
          <a:lstStyle/>
          <a:p>
            <a:pPr indent="0" marL="0">
              <a:buNone/>
            </a:pPr>
            <a:r>
              <a:rPr lang="en-US" sz="1350" dirty="0">
                <a:solidFill>
                  <a:srgbClr val="5B5F73"/>
                </a:solidFill>
                <a:latin typeface="Calibri" pitchFamily="34" charset="0"/>
                <a:ea typeface="Calibri" pitchFamily="34" charset="-122"/>
                <a:cs typeface="Calibri" pitchFamily="34" charset="-120"/>
              </a:rPr>
              <a:t>Un seul appel à l'IA : la photo des ingrédients bruts déclenche directement les deux phases dans une même réponse.</a:t>
            </a:r>
            <a:endParaRPr lang="en-US" sz="1350" dirty="0"/>
          </a:p>
        </p:txBody>
      </p:sp>
      <p:sp>
        <p:nvSpPr>
          <p:cNvPr id="4" name="Shape 2"/>
          <p:cNvSpPr/>
          <p:nvPr/>
        </p:nvSpPr>
        <p:spPr>
          <a:xfrm>
            <a:off x="548640" y="1965960"/>
            <a:ext cx="3505200" cy="1965960"/>
          </a:xfrm>
          <a:prstGeom prst="roundRect">
            <a:avLst>
              <a:gd name="adj" fmla="val 465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5" name="Text 3"/>
          <p:cNvSpPr/>
          <p:nvPr/>
        </p:nvSpPr>
        <p:spPr>
          <a:xfrm>
            <a:off x="777240" y="2130552"/>
            <a:ext cx="1005840" cy="502920"/>
          </a:xfrm>
          <a:prstGeom prst="rect">
            <a:avLst/>
          </a:prstGeom>
          <a:noFill/>
          <a:ln/>
        </p:spPr>
        <p:txBody>
          <a:bodyPr wrap="square" lIns="0" tIns="0" rIns="0" bIns="0" rtlCol="0" anchor="ctr"/>
          <a:lstStyle/>
          <a:p>
            <a:pPr indent="0" marL="0">
              <a:buNone/>
            </a:pPr>
            <a:r>
              <a:rPr lang="en-US" sz="2600" b="1" dirty="0">
                <a:solidFill>
                  <a:srgbClr val="F96167"/>
                </a:solidFill>
                <a:latin typeface="Bookman Old Style" pitchFamily="34" charset="0"/>
                <a:ea typeface="Bookman Old Style" pitchFamily="34" charset="-122"/>
                <a:cs typeface="Bookman Old Style" pitchFamily="34" charset="-120"/>
              </a:rPr>
              <a:t>01</a:t>
            </a:r>
            <a:endParaRPr lang="en-US" sz="2600" dirty="0"/>
          </a:p>
        </p:txBody>
      </p:sp>
      <p:pic>
        <p:nvPicPr>
          <p:cNvPr id="6" name="Image 0" descr="/home/claude/cuistot_pptx/icons/potCoral.png">    </p:cNvPr>
          <p:cNvPicPr>
            <a:picLocks noChangeAspect="1"/>
          </p:cNvPicPr>
          <p:nvPr/>
        </p:nvPicPr>
        <p:blipFill>
          <a:blip r:embed="rId1"/>
          <a:stretch>
            <a:fillRect/>
          </a:stretch>
        </p:blipFill>
        <p:spPr>
          <a:xfrm>
            <a:off x="3368040" y="2167128"/>
            <a:ext cx="411480" cy="411480"/>
          </a:xfrm>
          <a:prstGeom prst="rect">
            <a:avLst/>
          </a:prstGeom>
        </p:spPr>
      </p:pic>
      <p:sp>
        <p:nvSpPr>
          <p:cNvPr id="7" name="Text 4"/>
          <p:cNvSpPr/>
          <p:nvPr/>
        </p:nvSpPr>
        <p:spPr>
          <a:xfrm>
            <a:off x="777240" y="2679192"/>
            <a:ext cx="304800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Dépôt</a:t>
            </a:r>
            <a:endParaRPr lang="en-US" sz="1500" dirty="0"/>
          </a:p>
        </p:txBody>
      </p:sp>
      <p:sp>
        <p:nvSpPr>
          <p:cNvPr id="8" name="Text 5"/>
          <p:cNvSpPr/>
          <p:nvPr/>
        </p:nvSpPr>
        <p:spPr>
          <a:xfrm>
            <a:off x="777240" y="3063240"/>
            <a:ext cx="3048000" cy="777240"/>
          </a:xfrm>
          <a:prstGeom prst="rect">
            <a:avLst/>
          </a:prstGeom>
          <a:noFill/>
          <a:ln/>
        </p:spPr>
        <p:txBody>
          <a:bodyPr wrap="square" lIns="0" tIns="0" rIns="0" bIns="0" rtlCol="0" anchor="ctr"/>
          <a:lstStyle/>
          <a:p>
            <a:pPr indent="0" marL="0">
              <a:lnSpc>
                <a:spcPct val="110000"/>
              </a:lnSpc>
              <a:buNone/>
            </a:pPr>
            <a:r>
              <a:rPr lang="en-US" sz="1150" dirty="0">
                <a:solidFill>
                  <a:srgbClr val="5B5F73"/>
                </a:solidFill>
                <a:latin typeface="Calibri" pitchFamily="34" charset="0"/>
                <a:ea typeface="Calibri" pitchFamily="34" charset="-122"/>
                <a:cs typeface="Calibri" pitchFamily="34" charset="-120"/>
              </a:rPr>
              <a:t>Ingrédients bruts posés dans le récipient</a:t>
            </a:r>
            <a:endParaRPr lang="en-US" sz="1150" dirty="0"/>
          </a:p>
        </p:txBody>
      </p:sp>
      <p:sp>
        <p:nvSpPr>
          <p:cNvPr id="9" name="Text 6"/>
          <p:cNvSpPr/>
          <p:nvPr/>
        </p:nvSpPr>
        <p:spPr>
          <a:xfrm>
            <a:off x="4053840" y="2720340"/>
            <a:ext cx="274320" cy="457200"/>
          </a:xfrm>
          <a:prstGeom prst="rect">
            <a:avLst/>
          </a:prstGeom>
          <a:noFill/>
          <a:ln/>
        </p:spPr>
        <p:txBody>
          <a:bodyPr wrap="square" lIns="0" tIns="0" rIns="0" bIns="0"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10" name="Shape 7"/>
          <p:cNvSpPr/>
          <p:nvPr/>
        </p:nvSpPr>
        <p:spPr>
          <a:xfrm>
            <a:off x="4328160" y="1965960"/>
            <a:ext cx="3505200" cy="1965960"/>
          </a:xfrm>
          <a:prstGeom prst="roundRect">
            <a:avLst>
              <a:gd name="adj" fmla="val 465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11" name="Text 8"/>
          <p:cNvSpPr/>
          <p:nvPr/>
        </p:nvSpPr>
        <p:spPr>
          <a:xfrm>
            <a:off x="4556760" y="2130552"/>
            <a:ext cx="1005840" cy="502920"/>
          </a:xfrm>
          <a:prstGeom prst="rect">
            <a:avLst/>
          </a:prstGeom>
          <a:noFill/>
          <a:ln/>
        </p:spPr>
        <p:txBody>
          <a:bodyPr wrap="square" lIns="0" tIns="0" rIns="0" bIns="0" rtlCol="0" anchor="ctr"/>
          <a:lstStyle/>
          <a:p>
            <a:pPr indent="0" marL="0">
              <a:buNone/>
            </a:pPr>
            <a:r>
              <a:rPr lang="en-US" sz="2600" b="1" dirty="0">
                <a:solidFill>
                  <a:srgbClr val="F96167"/>
                </a:solidFill>
                <a:latin typeface="Bookman Old Style" pitchFamily="34" charset="0"/>
                <a:ea typeface="Bookman Old Style" pitchFamily="34" charset="-122"/>
                <a:cs typeface="Bookman Old Style" pitchFamily="34" charset="-120"/>
              </a:rPr>
              <a:t>02</a:t>
            </a:r>
            <a:endParaRPr lang="en-US" sz="2600" dirty="0"/>
          </a:p>
        </p:txBody>
      </p:sp>
      <p:pic>
        <p:nvPicPr>
          <p:cNvPr id="12" name="Image 1" descr="/home/claude/cuistot_pptx/icons/radarCoral.png">    </p:cNvPr>
          <p:cNvPicPr>
            <a:picLocks noChangeAspect="1"/>
          </p:cNvPicPr>
          <p:nvPr/>
        </p:nvPicPr>
        <p:blipFill>
          <a:blip r:embed="rId2"/>
          <a:stretch>
            <a:fillRect/>
          </a:stretch>
        </p:blipFill>
        <p:spPr>
          <a:xfrm>
            <a:off x="7147560" y="2167128"/>
            <a:ext cx="411480" cy="411480"/>
          </a:xfrm>
          <a:prstGeom prst="rect">
            <a:avLst/>
          </a:prstGeom>
        </p:spPr>
      </p:pic>
      <p:sp>
        <p:nvSpPr>
          <p:cNvPr id="13" name="Text 9"/>
          <p:cNvSpPr/>
          <p:nvPr/>
        </p:nvSpPr>
        <p:spPr>
          <a:xfrm>
            <a:off x="4556760" y="2679192"/>
            <a:ext cx="304800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Détection</a:t>
            </a:r>
            <a:endParaRPr lang="en-US" sz="1500" dirty="0"/>
          </a:p>
        </p:txBody>
      </p:sp>
      <p:sp>
        <p:nvSpPr>
          <p:cNvPr id="14" name="Text 10"/>
          <p:cNvSpPr/>
          <p:nvPr/>
        </p:nvSpPr>
        <p:spPr>
          <a:xfrm>
            <a:off x="4556760" y="3063240"/>
            <a:ext cx="3048000" cy="777240"/>
          </a:xfrm>
          <a:prstGeom prst="rect">
            <a:avLst/>
          </a:prstGeom>
          <a:noFill/>
          <a:ln/>
        </p:spPr>
        <p:txBody>
          <a:bodyPr wrap="square" lIns="0" tIns="0" rIns="0" bIns="0" rtlCol="0" anchor="ctr"/>
          <a:lstStyle/>
          <a:p>
            <a:pPr indent="0" marL="0">
              <a:lnSpc>
                <a:spcPct val="110000"/>
              </a:lnSpc>
              <a:buNone/>
            </a:pPr>
            <a:r>
              <a:rPr lang="en-US" sz="1150" dirty="0">
                <a:solidFill>
                  <a:srgbClr val="5B5F73"/>
                </a:solidFill>
                <a:latin typeface="Calibri" pitchFamily="34" charset="0"/>
                <a:ea typeface="Calibri" pitchFamily="34" charset="-122"/>
                <a:cs typeface="Calibri" pitchFamily="34" charset="-120"/>
              </a:rPr>
              <a:t>Capteur ultrason HC-SR04 détecte l'ajout</a:t>
            </a:r>
            <a:endParaRPr lang="en-US" sz="1150" dirty="0"/>
          </a:p>
        </p:txBody>
      </p:sp>
      <p:sp>
        <p:nvSpPr>
          <p:cNvPr id="15" name="Text 11"/>
          <p:cNvSpPr/>
          <p:nvPr/>
        </p:nvSpPr>
        <p:spPr>
          <a:xfrm>
            <a:off x="7833360" y="2720340"/>
            <a:ext cx="274320" cy="457200"/>
          </a:xfrm>
          <a:prstGeom prst="rect">
            <a:avLst/>
          </a:prstGeom>
          <a:noFill/>
          <a:ln/>
        </p:spPr>
        <p:txBody>
          <a:bodyPr wrap="square" lIns="0" tIns="0" rIns="0" bIns="0"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16" name="Shape 12"/>
          <p:cNvSpPr/>
          <p:nvPr/>
        </p:nvSpPr>
        <p:spPr>
          <a:xfrm>
            <a:off x="8107680" y="1965960"/>
            <a:ext cx="3505200" cy="1965960"/>
          </a:xfrm>
          <a:prstGeom prst="roundRect">
            <a:avLst>
              <a:gd name="adj" fmla="val 465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17" name="Text 13"/>
          <p:cNvSpPr/>
          <p:nvPr/>
        </p:nvSpPr>
        <p:spPr>
          <a:xfrm>
            <a:off x="8336280" y="2130552"/>
            <a:ext cx="1005840" cy="502920"/>
          </a:xfrm>
          <a:prstGeom prst="rect">
            <a:avLst/>
          </a:prstGeom>
          <a:noFill/>
          <a:ln/>
        </p:spPr>
        <p:txBody>
          <a:bodyPr wrap="square" lIns="0" tIns="0" rIns="0" bIns="0" rtlCol="0" anchor="ctr"/>
          <a:lstStyle/>
          <a:p>
            <a:pPr indent="0" marL="0">
              <a:buNone/>
            </a:pPr>
            <a:r>
              <a:rPr lang="en-US" sz="2600" b="1" dirty="0">
                <a:solidFill>
                  <a:srgbClr val="F96167"/>
                </a:solidFill>
                <a:latin typeface="Bookman Old Style" pitchFamily="34" charset="0"/>
                <a:ea typeface="Bookman Old Style" pitchFamily="34" charset="-122"/>
                <a:cs typeface="Bookman Old Style" pitchFamily="34" charset="-120"/>
              </a:rPr>
              <a:t>03</a:t>
            </a:r>
            <a:endParaRPr lang="en-US" sz="2600" dirty="0"/>
          </a:p>
        </p:txBody>
      </p:sp>
      <p:pic>
        <p:nvPicPr>
          <p:cNvPr id="18" name="Image 2" descr="/home/claude/cuistot_pptx/icons/cameraCoral.png">    </p:cNvPr>
          <p:cNvPicPr>
            <a:picLocks noChangeAspect="1"/>
          </p:cNvPicPr>
          <p:nvPr/>
        </p:nvPicPr>
        <p:blipFill>
          <a:blip r:embed="rId3"/>
          <a:stretch>
            <a:fillRect/>
          </a:stretch>
        </p:blipFill>
        <p:spPr>
          <a:xfrm>
            <a:off x="10927080" y="2167128"/>
            <a:ext cx="411480" cy="411480"/>
          </a:xfrm>
          <a:prstGeom prst="rect">
            <a:avLst/>
          </a:prstGeom>
        </p:spPr>
      </p:pic>
      <p:sp>
        <p:nvSpPr>
          <p:cNvPr id="19" name="Text 14"/>
          <p:cNvSpPr/>
          <p:nvPr/>
        </p:nvSpPr>
        <p:spPr>
          <a:xfrm>
            <a:off x="8336280" y="2679192"/>
            <a:ext cx="304800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Capture</a:t>
            </a:r>
            <a:endParaRPr lang="en-US" sz="1500" dirty="0"/>
          </a:p>
        </p:txBody>
      </p:sp>
      <p:sp>
        <p:nvSpPr>
          <p:cNvPr id="20" name="Text 15"/>
          <p:cNvSpPr/>
          <p:nvPr/>
        </p:nvSpPr>
        <p:spPr>
          <a:xfrm>
            <a:off x="8336280" y="3063240"/>
            <a:ext cx="3048000" cy="777240"/>
          </a:xfrm>
          <a:prstGeom prst="rect">
            <a:avLst/>
          </a:prstGeom>
          <a:noFill/>
          <a:ln/>
        </p:spPr>
        <p:txBody>
          <a:bodyPr wrap="square" lIns="0" tIns="0" rIns="0" bIns="0" rtlCol="0" anchor="ctr"/>
          <a:lstStyle/>
          <a:p>
            <a:pPr indent="0" marL="0">
              <a:lnSpc>
                <a:spcPct val="110000"/>
              </a:lnSpc>
              <a:buNone/>
            </a:pPr>
            <a:r>
              <a:rPr lang="en-US" sz="1150" dirty="0">
                <a:solidFill>
                  <a:srgbClr val="5B5F73"/>
                </a:solidFill>
                <a:latin typeface="Calibri" pitchFamily="34" charset="0"/>
                <a:ea typeface="Calibri" pitchFamily="34" charset="-122"/>
                <a:cs typeface="Calibri" pitchFamily="34" charset="-120"/>
              </a:rPr>
              <a:t>Photo prise via l'app IP Webcam</a:t>
            </a:r>
            <a:endParaRPr lang="en-US" sz="1150" dirty="0"/>
          </a:p>
        </p:txBody>
      </p:sp>
      <p:sp>
        <p:nvSpPr>
          <p:cNvPr id="21" name="Shape 16"/>
          <p:cNvSpPr/>
          <p:nvPr/>
        </p:nvSpPr>
        <p:spPr>
          <a:xfrm>
            <a:off x="548640" y="4206240"/>
            <a:ext cx="3505200" cy="1965960"/>
          </a:xfrm>
          <a:prstGeom prst="roundRect">
            <a:avLst>
              <a:gd name="adj" fmla="val 465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22" name="Text 17"/>
          <p:cNvSpPr/>
          <p:nvPr/>
        </p:nvSpPr>
        <p:spPr>
          <a:xfrm>
            <a:off x="777240" y="4370832"/>
            <a:ext cx="1005840" cy="502920"/>
          </a:xfrm>
          <a:prstGeom prst="rect">
            <a:avLst/>
          </a:prstGeom>
          <a:noFill/>
          <a:ln/>
        </p:spPr>
        <p:txBody>
          <a:bodyPr wrap="square" lIns="0" tIns="0" rIns="0" bIns="0" rtlCol="0" anchor="ctr"/>
          <a:lstStyle/>
          <a:p>
            <a:pPr indent="0" marL="0">
              <a:buNone/>
            </a:pPr>
            <a:r>
              <a:rPr lang="en-US" sz="2600" b="1" dirty="0">
                <a:solidFill>
                  <a:srgbClr val="F96167"/>
                </a:solidFill>
                <a:latin typeface="Bookman Old Style" pitchFamily="34" charset="0"/>
                <a:ea typeface="Bookman Old Style" pitchFamily="34" charset="-122"/>
                <a:cs typeface="Bookman Old Style" pitchFamily="34" charset="-120"/>
              </a:rPr>
              <a:t>04</a:t>
            </a:r>
            <a:endParaRPr lang="en-US" sz="2600" dirty="0"/>
          </a:p>
        </p:txBody>
      </p:sp>
      <p:pic>
        <p:nvPicPr>
          <p:cNvPr id="23" name="Image 3" descr="/home/claude/cuistot_pptx/icons/brainCoral.png">    </p:cNvPr>
          <p:cNvPicPr>
            <a:picLocks noChangeAspect="1"/>
          </p:cNvPicPr>
          <p:nvPr/>
        </p:nvPicPr>
        <p:blipFill>
          <a:blip r:embed="rId4"/>
          <a:stretch>
            <a:fillRect/>
          </a:stretch>
        </p:blipFill>
        <p:spPr>
          <a:xfrm>
            <a:off x="3368040" y="4407408"/>
            <a:ext cx="411480" cy="411480"/>
          </a:xfrm>
          <a:prstGeom prst="rect">
            <a:avLst/>
          </a:prstGeom>
        </p:spPr>
      </p:pic>
      <p:sp>
        <p:nvSpPr>
          <p:cNvPr id="24" name="Text 18"/>
          <p:cNvSpPr/>
          <p:nvPr/>
        </p:nvSpPr>
        <p:spPr>
          <a:xfrm>
            <a:off x="777240" y="4919472"/>
            <a:ext cx="304800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Analyse IA</a:t>
            </a:r>
            <a:endParaRPr lang="en-US" sz="1500" dirty="0"/>
          </a:p>
        </p:txBody>
      </p:sp>
      <p:sp>
        <p:nvSpPr>
          <p:cNvPr id="25" name="Text 19"/>
          <p:cNvSpPr/>
          <p:nvPr/>
        </p:nvSpPr>
        <p:spPr>
          <a:xfrm>
            <a:off x="777240" y="5303520"/>
            <a:ext cx="3048000" cy="777240"/>
          </a:xfrm>
          <a:prstGeom prst="rect">
            <a:avLst/>
          </a:prstGeom>
          <a:noFill/>
          <a:ln/>
        </p:spPr>
        <p:txBody>
          <a:bodyPr wrap="square" lIns="0" tIns="0" rIns="0" bIns="0" rtlCol="0" anchor="ctr"/>
          <a:lstStyle/>
          <a:p>
            <a:pPr indent="0" marL="0">
              <a:lnSpc>
                <a:spcPct val="110000"/>
              </a:lnSpc>
              <a:buNone/>
            </a:pPr>
            <a:r>
              <a:rPr lang="en-US" sz="1150" dirty="0">
                <a:solidFill>
                  <a:srgbClr val="5B5F73"/>
                </a:solidFill>
                <a:latin typeface="Calibri" pitchFamily="34" charset="0"/>
                <a:ea typeface="Calibri" pitchFamily="34" charset="-122"/>
                <a:cs typeface="Calibri" pitchFamily="34" charset="-120"/>
              </a:rPr>
              <a:t>Identification + vérif. comestibilité</a:t>
            </a:r>
            <a:endParaRPr lang="en-US" sz="1150" dirty="0"/>
          </a:p>
        </p:txBody>
      </p:sp>
      <p:sp>
        <p:nvSpPr>
          <p:cNvPr id="26" name="Text 20"/>
          <p:cNvSpPr/>
          <p:nvPr/>
        </p:nvSpPr>
        <p:spPr>
          <a:xfrm>
            <a:off x="4053840" y="4960620"/>
            <a:ext cx="274320" cy="457200"/>
          </a:xfrm>
          <a:prstGeom prst="rect">
            <a:avLst/>
          </a:prstGeom>
          <a:noFill/>
          <a:ln/>
        </p:spPr>
        <p:txBody>
          <a:bodyPr wrap="square" lIns="0" tIns="0" rIns="0" bIns="0"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27" name="Shape 21"/>
          <p:cNvSpPr/>
          <p:nvPr/>
        </p:nvSpPr>
        <p:spPr>
          <a:xfrm>
            <a:off x="4328160" y="4206240"/>
            <a:ext cx="3505200" cy="1965960"/>
          </a:xfrm>
          <a:prstGeom prst="roundRect">
            <a:avLst>
              <a:gd name="adj" fmla="val 465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28" name="Text 22"/>
          <p:cNvSpPr/>
          <p:nvPr/>
        </p:nvSpPr>
        <p:spPr>
          <a:xfrm>
            <a:off x="4556760" y="4370832"/>
            <a:ext cx="1005840" cy="502920"/>
          </a:xfrm>
          <a:prstGeom prst="rect">
            <a:avLst/>
          </a:prstGeom>
          <a:noFill/>
          <a:ln/>
        </p:spPr>
        <p:txBody>
          <a:bodyPr wrap="square" lIns="0" tIns="0" rIns="0" bIns="0" rtlCol="0" anchor="ctr"/>
          <a:lstStyle/>
          <a:p>
            <a:pPr indent="0" marL="0">
              <a:buNone/>
            </a:pPr>
            <a:r>
              <a:rPr lang="en-US" sz="2600" b="1" dirty="0">
                <a:solidFill>
                  <a:srgbClr val="F96167"/>
                </a:solidFill>
                <a:latin typeface="Bookman Old Style" pitchFamily="34" charset="0"/>
                <a:ea typeface="Bookman Old Style" pitchFamily="34" charset="-122"/>
                <a:cs typeface="Bookman Old Style" pitchFamily="34" charset="-120"/>
              </a:rPr>
              <a:t>05</a:t>
            </a:r>
            <a:endParaRPr lang="en-US" sz="2600" dirty="0"/>
          </a:p>
        </p:txBody>
      </p:sp>
      <p:pic>
        <p:nvPicPr>
          <p:cNvPr id="29" name="Image 4" descr="/home/claude/cuistot_pptx/icons/folderTreeCoral.png">    </p:cNvPr>
          <p:cNvPicPr>
            <a:picLocks noChangeAspect="1"/>
          </p:cNvPicPr>
          <p:nvPr/>
        </p:nvPicPr>
        <p:blipFill>
          <a:blip r:embed="rId5"/>
          <a:stretch>
            <a:fillRect/>
          </a:stretch>
        </p:blipFill>
        <p:spPr>
          <a:xfrm>
            <a:off x="7147560" y="4407408"/>
            <a:ext cx="411480" cy="411480"/>
          </a:xfrm>
          <a:prstGeom prst="rect">
            <a:avLst/>
          </a:prstGeom>
        </p:spPr>
      </p:pic>
      <p:sp>
        <p:nvSpPr>
          <p:cNvPr id="30" name="Text 23"/>
          <p:cNvSpPr/>
          <p:nvPr/>
        </p:nvSpPr>
        <p:spPr>
          <a:xfrm>
            <a:off x="4556760" y="4919472"/>
            <a:ext cx="304800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Plan généré</a:t>
            </a:r>
            <a:endParaRPr lang="en-US" sz="1500" dirty="0"/>
          </a:p>
        </p:txBody>
      </p:sp>
      <p:sp>
        <p:nvSpPr>
          <p:cNvPr id="31" name="Text 24"/>
          <p:cNvSpPr/>
          <p:nvPr/>
        </p:nvSpPr>
        <p:spPr>
          <a:xfrm>
            <a:off x="4556760" y="5303520"/>
            <a:ext cx="3048000" cy="777240"/>
          </a:xfrm>
          <a:prstGeom prst="rect">
            <a:avLst/>
          </a:prstGeom>
          <a:noFill/>
          <a:ln/>
        </p:spPr>
        <p:txBody>
          <a:bodyPr wrap="square" lIns="0" tIns="0" rIns="0" bIns="0" rtlCol="0" anchor="ctr"/>
          <a:lstStyle/>
          <a:p>
            <a:pPr indent="0" marL="0">
              <a:lnSpc>
                <a:spcPct val="110000"/>
              </a:lnSpc>
              <a:buNone/>
            </a:pPr>
            <a:r>
              <a:rPr lang="en-US" sz="1150" dirty="0">
                <a:solidFill>
                  <a:srgbClr val="5B5F73"/>
                </a:solidFill>
                <a:latin typeface="Calibri" pitchFamily="34" charset="0"/>
                <a:ea typeface="Calibri" pitchFamily="34" charset="-122"/>
                <a:cs typeface="Calibri" pitchFamily="34" charset="-120"/>
              </a:rPr>
              <a:t>JSON : préparation humaine + cuisson robot</a:t>
            </a:r>
            <a:endParaRPr lang="en-US" sz="1150" dirty="0"/>
          </a:p>
        </p:txBody>
      </p:sp>
      <p:sp>
        <p:nvSpPr>
          <p:cNvPr id="32" name="Text 25"/>
          <p:cNvSpPr/>
          <p:nvPr/>
        </p:nvSpPr>
        <p:spPr>
          <a:xfrm>
            <a:off x="7833360" y="4960620"/>
            <a:ext cx="274320" cy="457200"/>
          </a:xfrm>
          <a:prstGeom prst="rect">
            <a:avLst/>
          </a:prstGeom>
          <a:noFill/>
          <a:ln/>
        </p:spPr>
        <p:txBody>
          <a:bodyPr wrap="square" lIns="0" tIns="0" rIns="0" bIns="0" rtlCol="0" anchor="ctr"/>
          <a:lstStyle/>
          <a:p>
            <a:pPr algn="ctr" indent="0" marL="0">
              <a:buNone/>
            </a:pPr>
            <a:r>
              <a:rPr lang="en-US" sz="1800" b="1" dirty="0">
                <a:solidFill>
                  <a:srgbClr val="F96167"/>
                </a:solidFill>
                <a:latin typeface="Calibri" pitchFamily="34" charset="0"/>
                <a:ea typeface="Calibri" pitchFamily="34" charset="-122"/>
                <a:cs typeface="Calibri" pitchFamily="34" charset="-120"/>
              </a:rPr>
              <a:t>→</a:t>
            </a:r>
            <a:endParaRPr lang="en-US" sz="1800" dirty="0"/>
          </a:p>
        </p:txBody>
      </p:sp>
      <p:sp>
        <p:nvSpPr>
          <p:cNvPr id="33" name="Shape 26"/>
          <p:cNvSpPr/>
          <p:nvPr/>
        </p:nvSpPr>
        <p:spPr>
          <a:xfrm>
            <a:off x="8107680" y="4206240"/>
            <a:ext cx="3505200" cy="1965960"/>
          </a:xfrm>
          <a:prstGeom prst="roundRect">
            <a:avLst>
              <a:gd name="adj" fmla="val 465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34" name="Text 27"/>
          <p:cNvSpPr/>
          <p:nvPr/>
        </p:nvSpPr>
        <p:spPr>
          <a:xfrm>
            <a:off x="8336280" y="4370832"/>
            <a:ext cx="1005840" cy="502920"/>
          </a:xfrm>
          <a:prstGeom prst="rect">
            <a:avLst/>
          </a:prstGeom>
          <a:noFill/>
          <a:ln/>
        </p:spPr>
        <p:txBody>
          <a:bodyPr wrap="square" lIns="0" tIns="0" rIns="0" bIns="0" rtlCol="0" anchor="ctr"/>
          <a:lstStyle/>
          <a:p>
            <a:pPr indent="0" marL="0">
              <a:buNone/>
            </a:pPr>
            <a:r>
              <a:rPr lang="en-US" sz="2600" b="1" dirty="0">
                <a:solidFill>
                  <a:srgbClr val="F96167"/>
                </a:solidFill>
                <a:latin typeface="Bookman Old Style" pitchFamily="34" charset="0"/>
                <a:ea typeface="Bookman Old Style" pitchFamily="34" charset="-122"/>
                <a:cs typeface="Bookman Old Style" pitchFamily="34" charset="-120"/>
              </a:rPr>
              <a:t>06</a:t>
            </a:r>
            <a:endParaRPr lang="en-US" sz="2600" dirty="0"/>
          </a:p>
        </p:txBody>
      </p:sp>
      <p:pic>
        <p:nvPicPr>
          <p:cNvPr id="35" name="Image 5" descr="/home/claude/cuistot_pptx/icons/fireCoral.png">    </p:cNvPr>
          <p:cNvPicPr>
            <a:picLocks noChangeAspect="1"/>
          </p:cNvPicPr>
          <p:nvPr/>
        </p:nvPicPr>
        <p:blipFill>
          <a:blip r:embed="rId6"/>
          <a:stretch>
            <a:fillRect/>
          </a:stretch>
        </p:blipFill>
        <p:spPr>
          <a:xfrm>
            <a:off x="10927080" y="4407408"/>
            <a:ext cx="411480" cy="411480"/>
          </a:xfrm>
          <a:prstGeom prst="rect">
            <a:avLst/>
          </a:prstGeom>
        </p:spPr>
      </p:pic>
      <p:sp>
        <p:nvSpPr>
          <p:cNvPr id="36" name="Text 28"/>
          <p:cNvSpPr/>
          <p:nvPr/>
        </p:nvSpPr>
        <p:spPr>
          <a:xfrm>
            <a:off x="8336280" y="4919472"/>
            <a:ext cx="3048000" cy="365760"/>
          </a:xfrm>
          <a:prstGeom prst="rect">
            <a:avLst/>
          </a:prstGeom>
          <a:noFill/>
          <a:ln/>
        </p:spPr>
        <p:txBody>
          <a:bodyPr wrap="square" lIns="0" tIns="0" rIns="0" bIns="0" rtlCol="0" anchor="ctr"/>
          <a:lstStyle/>
          <a:p>
            <a:pPr indent="0" marL="0">
              <a:buNone/>
            </a:pPr>
            <a:r>
              <a:rPr lang="en-US" sz="1500" b="1" dirty="0">
                <a:solidFill>
                  <a:srgbClr val="222B5C"/>
                </a:solidFill>
                <a:latin typeface="Calibri" pitchFamily="34" charset="0"/>
                <a:ea typeface="Calibri" pitchFamily="34" charset="-122"/>
                <a:cs typeface="Calibri" pitchFamily="34" charset="-120"/>
              </a:rPr>
              <a:t>Exécution</a:t>
            </a:r>
            <a:endParaRPr lang="en-US" sz="1500" dirty="0"/>
          </a:p>
        </p:txBody>
      </p:sp>
      <p:sp>
        <p:nvSpPr>
          <p:cNvPr id="37" name="Text 29"/>
          <p:cNvSpPr/>
          <p:nvPr/>
        </p:nvSpPr>
        <p:spPr>
          <a:xfrm>
            <a:off x="8336280" y="5303520"/>
            <a:ext cx="3048000" cy="777240"/>
          </a:xfrm>
          <a:prstGeom prst="rect">
            <a:avLst/>
          </a:prstGeom>
          <a:noFill/>
          <a:ln/>
        </p:spPr>
        <p:txBody>
          <a:bodyPr wrap="square" lIns="0" tIns="0" rIns="0" bIns="0" rtlCol="0" anchor="ctr"/>
          <a:lstStyle/>
          <a:p>
            <a:pPr indent="0" marL="0">
              <a:lnSpc>
                <a:spcPct val="110000"/>
              </a:lnSpc>
              <a:buNone/>
            </a:pPr>
            <a:r>
              <a:rPr lang="en-US" sz="1150" dirty="0">
                <a:solidFill>
                  <a:srgbClr val="5B5F73"/>
                </a:solidFill>
                <a:latin typeface="Calibri" pitchFamily="34" charset="0"/>
                <a:ea typeface="Calibri" pitchFamily="34" charset="-122"/>
                <a:cs typeface="Calibri" pitchFamily="34" charset="-120"/>
              </a:rPr>
              <a:t>Chauffage, dosage, mélange automatiques</a:t>
            </a:r>
            <a:endParaRPr lang="en-US" sz="1150" dirty="0"/>
          </a:p>
        </p:txBody>
      </p:sp>
      <p:sp>
        <p:nvSpPr>
          <p:cNvPr id="38" name="Text 30"/>
          <p:cNvSpPr/>
          <p:nvPr/>
        </p:nvSpPr>
        <p:spPr>
          <a:xfrm>
            <a:off x="11064240" y="6510528"/>
            <a:ext cx="914400" cy="274320"/>
          </a:xfrm>
          <a:prstGeom prst="rect">
            <a:avLst/>
          </a:prstGeom>
          <a:noFill/>
          <a:ln/>
        </p:spPr>
        <p:txBody>
          <a:bodyPr wrap="square" lIns="0" tIns="0" rIns="0" bIns="0" rtlCol="0" anchor="ctr"/>
          <a:lstStyle/>
          <a:p>
            <a:pPr algn="r" indent="0" marL="0">
              <a:buNone/>
            </a:pPr>
            <a:r>
              <a:rPr lang="en-US" sz="1000" dirty="0">
                <a:solidFill>
                  <a:srgbClr val="5B5F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222B5C"/>
                </a:solidFill>
                <a:latin typeface="Bookman Old Style" pitchFamily="34" charset="0"/>
                <a:ea typeface="Bookman Old Style" pitchFamily="34" charset="-122"/>
                <a:cs typeface="Bookman Old Style" pitchFamily="34" charset="-120"/>
              </a:rPr>
              <a:t>Composants matériels</a:t>
            </a:r>
            <a:endParaRPr lang="en-US" sz="3200" dirty="0"/>
          </a:p>
        </p:txBody>
      </p:sp>
      <p:sp>
        <p:nvSpPr>
          <p:cNvPr id="3" name="Shape 1"/>
          <p:cNvSpPr/>
          <p:nvPr/>
        </p:nvSpPr>
        <p:spPr>
          <a:xfrm>
            <a:off x="548640" y="1234440"/>
            <a:ext cx="11064240" cy="626364"/>
          </a:xfrm>
          <a:prstGeom prst="rect">
            <a:avLst/>
          </a:prstGeom>
          <a:solidFill>
            <a:srgbClr val="FFFFFF"/>
          </a:solidFill>
          <a:ln/>
        </p:spPr>
      </p:sp>
      <p:sp>
        <p:nvSpPr>
          <p:cNvPr id="4" name="Shape 2"/>
          <p:cNvSpPr/>
          <p:nvPr/>
        </p:nvSpPr>
        <p:spPr>
          <a:xfrm>
            <a:off x="713232" y="1328166"/>
            <a:ext cx="438912" cy="438912"/>
          </a:xfrm>
          <a:prstGeom prst="ellipse">
            <a:avLst/>
          </a:prstGeom>
          <a:solidFill>
            <a:srgbClr val="222B5C"/>
          </a:solidFill>
          <a:ln/>
        </p:spPr>
      </p:sp>
      <p:pic>
        <p:nvPicPr>
          <p:cNvPr id="5" name="Image 0" descr="/home/claude/cuistot_pptx/icons/radar.png">    </p:cNvPr>
          <p:cNvPicPr>
            <a:picLocks noChangeAspect="1"/>
          </p:cNvPicPr>
          <p:nvPr/>
        </p:nvPicPr>
        <p:blipFill>
          <a:blip r:embed="rId1"/>
          <a:stretch>
            <a:fillRect/>
          </a:stretch>
        </p:blipFill>
        <p:spPr>
          <a:xfrm>
            <a:off x="822960" y="1437894"/>
            <a:ext cx="219456" cy="219456"/>
          </a:xfrm>
          <a:prstGeom prst="rect">
            <a:avLst/>
          </a:prstGeom>
        </p:spPr>
      </p:pic>
      <p:sp>
        <p:nvSpPr>
          <p:cNvPr id="6" name="Text 3"/>
          <p:cNvSpPr/>
          <p:nvPr/>
        </p:nvSpPr>
        <p:spPr>
          <a:xfrm>
            <a:off x="1325880" y="1234440"/>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Capteur ultrason HC-SR04</a:t>
            </a:r>
            <a:endParaRPr lang="en-US" sz="1300" dirty="0"/>
          </a:p>
        </p:txBody>
      </p:sp>
      <p:sp>
        <p:nvSpPr>
          <p:cNvPr id="7" name="Text 4"/>
          <p:cNvSpPr/>
          <p:nvPr/>
        </p:nvSpPr>
        <p:spPr>
          <a:xfrm>
            <a:off x="4754880" y="1234440"/>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Détecte l'ajout d'un ingrédient dans le récipient</a:t>
            </a:r>
            <a:endParaRPr lang="en-US" sz="1250" dirty="0"/>
          </a:p>
        </p:txBody>
      </p:sp>
      <p:sp>
        <p:nvSpPr>
          <p:cNvPr id="8" name="Shape 5"/>
          <p:cNvSpPr/>
          <p:nvPr/>
        </p:nvSpPr>
        <p:spPr>
          <a:xfrm>
            <a:off x="713232" y="1954530"/>
            <a:ext cx="438912" cy="438912"/>
          </a:xfrm>
          <a:prstGeom prst="ellipse">
            <a:avLst/>
          </a:prstGeom>
          <a:solidFill>
            <a:srgbClr val="222B5C"/>
          </a:solidFill>
          <a:ln/>
        </p:spPr>
      </p:sp>
      <p:pic>
        <p:nvPicPr>
          <p:cNvPr id="9" name="Image 1" descr="/home/claude/cuistot_pptx/icons/chip.png">    </p:cNvPr>
          <p:cNvPicPr>
            <a:picLocks noChangeAspect="1"/>
          </p:cNvPicPr>
          <p:nvPr/>
        </p:nvPicPr>
        <p:blipFill>
          <a:blip r:embed="rId2"/>
          <a:stretch>
            <a:fillRect/>
          </a:stretch>
        </p:blipFill>
        <p:spPr>
          <a:xfrm>
            <a:off x="822960" y="2064258"/>
            <a:ext cx="219456" cy="219456"/>
          </a:xfrm>
          <a:prstGeom prst="rect">
            <a:avLst/>
          </a:prstGeom>
        </p:spPr>
      </p:pic>
      <p:sp>
        <p:nvSpPr>
          <p:cNvPr id="10" name="Text 6"/>
          <p:cNvSpPr/>
          <p:nvPr/>
        </p:nvSpPr>
        <p:spPr>
          <a:xfrm>
            <a:off x="1325880" y="1860804"/>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Arduino</a:t>
            </a:r>
            <a:endParaRPr lang="en-US" sz="1300" dirty="0"/>
          </a:p>
        </p:txBody>
      </p:sp>
      <p:sp>
        <p:nvSpPr>
          <p:cNvPr id="11" name="Text 7"/>
          <p:cNvSpPr/>
          <p:nvPr/>
        </p:nvSpPr>
        <p:spPr>
          <a:xfrm>
            <a:off x="4754880" y="1860804"/>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Lit le capteur, envoie un signal série</a:t>
            </a:r>
            <a:endParaRPr lang="en-US" sz="1250" dirty="0"/>
          </a:p>
        </p:txBody>
      </p:sp>
      <p:sp>
        <p:nvSpPr>
          <p:cNvPr id="12" name="Shape 8"/>
          <p:cNvSpPr/>
          <p:nvPr/>
        </p:nvSpPr>
        <p:spPr>
          <a:xfrm>
            <a:off x="548640" y="2487168"/>
            <a:ext cx="11064240" cy="626364"/>
          </a:xfrm>
          <a:prstGeom prst="rect">
            <a:avLst/>
          </a:prstGeom>
          <a:solidFill>
            <a:srgbClr val="FFFFFF"/>
          </a:solidFill>
          <a:ln/>
        </p:spPr>
      </p:sp>
      <p:sp>
        <p:nvSpPr>
          <p:cNvPr id="13" name="Shape 9"/>
          <p:cNvSpPr/>
          <p:nvPr/>
        </p:nvSpPr>
        <p:spPr>
          <a:xfrm>
            <a:off x="713232" y="2580894"/>
            <a:ext cx="438912" cy="438912"/>
          </a:xfrm>
          <a:prstGeom prst="ellipse">
            <a:avLst/>
          </a:prstGeom>
          <a:solidFill>
            <a:srgbClr val="222B5C"/>
          </a:solidFill>
          <a:ln/>
        </p:spPr>
      </p:sp>
      <p:pic>
        <p:nvPicPr>
          <p:cNvPr id="14" name="Image 2" descr="/home/claude/cuistot_pptx/icons/camera.png">    </p:cNvPr>
          <p:cNvPicPr>
            <a:picLocks noChangeAspect="1"/>
          </p:cNvPicPr>
          <p:nvPr/>
        </p:nvPicPr>
        <p:blipFill>
          <a:blip r:embed="rId3"/>
          <a:stretch>
            <a:fillRect/>
          </a:stretch>
        </p:blipFill>
        <p:spPr>
          <a:xfrm>
            <a:off x="822960" y="2690622"/>
            <a:ext cx="219456" cy="219456"/>
          </a:xfrm>
          <a:prstGeom prst="rect">
            <a:avLst/>
          </a:prstGeom>
        </p:spPr>
      </p:pic>
      <p:sp>
        <p:nvSpPr>
          <p:cNvPr id="15" name="Text 10"/>
          <p:cNvSpPr/>
          <p:nvPr/>
        </p:nvSpPr>
        <p:spPr>
          <a:xfrm>
            <a:off x="1325880" y="2487168"/>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Téléphone + app IP Webcam</a:t>
            </a:r>
            <a:endParaRPr lang="en-US" sz="1300" dirty="0"/>
          </a:p>
        </p:txBody>
      </p:sp>
      <p:sp>
        <p:nvSpPr>
          <p:cNvPr id="16" name="Text 11"/>
          <p:cNvSpPr/>
          <p:nvPr/>
        </p:nvSpPr>
        <p:spPr>
          <a:xfrm>
            <a:off x="4754880" y="2487168"/>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Capture photo du contenu du récipient</a:t>
            </a:r>
            <a:endParaRPr lang="en-US" sz="1250" dirty="0"/>
          </a:p>
        </p:txBody>
      </p:sp>
      <p:sp>
        <p:nvSpPr>
          <p:cNvPr id="17" name="Shape 12"/>
          <p:cNvSpPr/>
          <p:nvPr/>
        </p:nvSpPr>
        <p:spPr>
          <a:xfrm>
            <a:off x="713232" y="3207258"/>
            <a:ext cx="438912" cy="438912"/>
          </a:xfrm>
          <a:prstGeom prst="ellipse">
            <a:avLst/>
          </a:prstGeom>
          <a:solidFill>
            <a:srgbClr val="222B5C"/>
          </a:solidFill>
          <a:ln/>
        </p:spPr>
      </p:sp>
      <p:pic>
        <p:nvPicPr>
          <p:cNvPr id="18" name="Image 3" descr="/home/claude/cuistot_pptx/icons/fire.png">    </p:cNvPr>
          <p:cNvPicPr>
            <a:picLocks noChangeAspect="1"/>
          </p:cNvPicPr>
          <p:nvPr/>
        </p:nvPicPr>
        <p:blipFill>
          <a:blip r:embed="rId4"/>
          <a:stretch>
            <a:fillRect/>
          </a:stretch>
        </p:blipFill>
        <p:spPr>
          <a:xfrm>
            <a:off x="822960" y="3316986"/>
            <a:ext cx="219456" cy="219456"/>
          </a:xfrm>
          <a:prstGeom prst="rect">
            <a:avLst/>
          </a:prstGeom>
        </p:spPr>
      </p:pic>
      <p:sp>
        <p:nvSpPr>
          <p:cNvPr id="19" name="Text 13"/>
          <p:cNvSpPr/>
          <p:nvPr/>
        </p:nvSpPr>
        <p:spPr>
          <a:xfrm>
            <a:off x="1325880" y="3113532"/>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Élément chauffant</a:t>
            </a:r>
            <a:endParaRPr lang="en-US" sz="1300" dirty="0"/>
          </a:p>
        </p:txBody>
      </p:sp>
      <p:sp>
        <p:nvSpPr>
          <p:cNvPr id="20" name="Text 14"/>
          <p:cNvSpPr/>
          <p:nvPr/>
        </p:nvSpPr>
        <p:spPr>
          <a:xfrm>
            <a:off x="4754880" y="3113532"/>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Cuisson à température fixe (valeur exacte à mesurer)</a:t>
            </a:r>
            <a:endParaRPr lang="en-US" sz="1250" dirty="0"/>
          </a:p>
        </p:txBody>
      </p:sp>
      <p:sp>
        <p:nvSpPr>
          <p:cNvPr id="21" name="Shape 15"/>
          <p:cNvSpPr/>
          <p:nvPr/>
        </p:nvSpPr>
        <p:spPr>
          <a:xfrm>
            <a:off x="548640" y="3739896"/>
            <a:ext cx="11064240" cy="626364"/>
          </a:xfrm>
          <a:prstGeom prst="rect">
            <a:avLst/>
          </a:prstGeom>
          <a:solidFill>
            <a:srgbClr val="FFFFFF"/>
          </a:solidFill>
          <a:ln/>
        </p:spPr>
      </p:sp>
      <p:sp>
        <p:nvSpPr>
          <p:cNvPr id="22" name="Shape 16"/>
          <p:cNvSpPr/>
          <p:nvPr/>
        </p:nvSpPr>
        <p:spPr>
          <a:xfrm>
            <a:off x="713232" y="3833622"/>
            <a:ext cx="438912" cy="438912"/>
          </a:xfrm>
          <a:prstGeom prst="ellipse">
            <a:avLst/>
          </a:prstGeom>
          <a:solidFill>
            <a:srgbClr val="222B5C"/>
          </a:solidFill>
          <a:ln/>
        </p:spPr>
      </p:sp>
      <p:pic>
        <p:nvPicPr>
          <p:cNvPr id="23" name="Image 4" descr="/home/claude/cuistot_pptx/icons/waterDrop.png">    </p:cNvPr>
          <p:cNvPicPr>
            <a:picLocks noChangeAspect="1"/>
          </p:cNvPicPr>
          <p:nvPr/>
        </p:nvPicPr>
        <p:blipFill>
          <a:blip r:embed="rId5"/>
          <a:stretch>
            <a:fillRect/>
          </a:stretch>
        </p:blipFill>
        <p:spPr>
          <a:xfrm>
            <a:off x="822960" y="3943350"/>
            <a:ext cx="219456" cy="219456"/>
          </a:xfrm>
          <a:prstGeom prst="rect">
            <a:avLst/>
          </a:prstGeom>
        </p:spPr>
      </p:pic>
      <p:sp>
        <p:nvSpPr>
          <p:cNvPr id="24" name="Text 17"/>
          <p:cNvSpPr/>
          <p:nvPr/>
        </p:nvSpPr>
        <p:spPr>
          <a:xfrm>
            <a:off x="1325880" y="3739896"/>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Doseur eau (pompe)</a:t>
            </a:r>
            <a:endParaRPr lang="en-US" sz="1300" dirty="0"/>
          </a:p>
        </p:txBody>
      </p:sp>
      <p:sp>
        <p:nvSpPr>
          <p:cNvPr id="25" name="Text 18"/>
          <p:cNvSpPr/>
          <p:nvPr/>
        </p:nvSpPr>
        <p:spPr>
          <a:xfrm>
            <a:off x="4754880" y="3739896"/>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Ajoute une quantité précise d'eau</a:t>
            </a:r>
            <a:endParaRPr lang="en-US" sz="1250" dirty="0"/>
          </a:p>
        </p:txBody>
      </p:sp>
      <p:sp>
        <p:nvSpPr>
          <p:cNvPr id="26" name="Shape 19"/>
          <p:cNvSpPr/>
          <p:nvPr/>
        </p:nvSpPr>
        <p:spPr>
          <a:xfrm>
            <a:off x="713232" y="4459986"/>
            <a:ext cx="438912" cy="438912"/>
          </a:xfrm>
          <a:prstGeom prst="ellipse">
            <a:avLst/>
          </a:prstGeom>
          <a:solidFill>
            <a:srgbClr val="222B5C"/>
          </a:solidFill>
          <a:ln/>
        </p:spPr>
      </p:sp>
      <p:pic>
        <p:nvPicPr>
          <p:cNvPr id="27" name="Image 5" descr="/home/claude/cuistot_pptx/icons/saltShaker.png">    </p:cNvPr>
          <p:cNvPicPr>
            <a:picLocks noChangeAspect="1"/>
          </p:cNvPicPr>
          <p:nvPr/>
        </p:nvPicPr>
        <p:blipFill>
          <a:blip r:embed="rId6"/>
          <a:stretch>
            <a:fillRect/>
          </a:stretch>
        </p:blipFill>
        <p:spPr>
          <a:xfrm>
            <a:off x="822960" y="4569714"/>
            <a:ext cx="219456" cy="219456"/>
          </a:xfrm>
          <a:prstGeom prst="rect">
            <a:avLst/>
          </a:prstGeom>
        </p:spPr>
      </p:pic>
      <p:sp>
        <p:nvSpPr>
          <p:cNvPr id="28" name="Text 20"/>
          <p:cNvSpPr/>
          <p:nvPr/>
        </p:nvSpPr>
        <p:spPr>
          <a:xfrm>
            <a:off x="1325880" y="4366260"/>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Doseur sel</a:t>
            </a:r>
            <a:endParaRPr lang="en-US" sz="1300" dirty="0"/>
          </a:p>
        </p:txBody>
      </p:sp>
      <p:sp>
        <p:nvSpPr>
          <p:cNvPr id="29" name="Text 21"/>
          <p:cNvSpPr/>
          <p:nvPr/>
        </p:nvSpPr>
        <p:spPr>
          <a:xfrm>
            <a:off x="4754880" y="4366260"/>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Ajoute une quantité précise de sel</a:t>
            </a:r>
            <a:endParaRPr lang="en-US" sz="1250" dirty="0"/>
          </a:p>
        </p:txBody>
      </p:sp>
      <p:sp>
        <p:nvSpPr>
          <p:cNvPr id="30" name="Shape 22"/>
          <p:cNvSpPr/>
          <p:nvPr/>
        </p:nvSpPr>
        <p:spPr>
          <a:xfrm>
            <a:off x="548640" y="4992624"/>
            <a:ext cx="11064240" cy="626364"/>
          </a:xfrm>
          <a:prstGeom prst="rect">
            <a:avLst/>
          </a:prstGeom>
          <a:solidFill>
            <a:srgbClr val="FFFFFF"/>
          </a:solidFill>
          <a:ln/>
        </p:spPr>
      </p:sp>
      <p:sp>
        <p:nvSpPr>
          <p:cNvPr id="31" name="Shape 23"/>
          <p:cNvSpPr/>
          <p:nvPr/>
        </p:nvSpPr>
        <p:spPr>
          <a:xfrm>
            <a:off x="713232" y="5086350"/>
            <a:ext cx="438912" cy="438912"/>
          </a:xfrm>
          <a:prstGeom prst="ellipse">
            <a:avLst/>
          </a:prstGeom>
          <a:solidFill>
            <a:srgbClr val="222B5C"/>
          </a:solidFill>
          <a:ln/>
        </p:spPr>
      </p:sp>
      <p:pic>
        <p:nvPicPr>
          <p:cNvPr id="32" name="Image 6" descr="/home/claude/cuistot_pptx/icons/oilDrum.png">    </p:cNvPr>
          <p:cNvPicPr>
            <a:picLocks noChangeAspect="1"/>
          </p:cNvPicPr>
          <p:nvPr/>
        </p:nvPicPr>
        <p:blipFill>
          <a:blip r:embed="rId7"/>
          <a:stretch>
            <a:fillRect/>
          </a:stretch>
        </p:blipFill>
        <p:spPr>
          <a:xfrm>
            <a:off x="822960" y="5196078"/>
            <a:ext cx="219456" cy="219456"/>
          </a:xfrm>
          <a:prstGeom prst="rect">
            <a:avLst/>
          </a:prstGeom>
        </p:spPr>
      </p:pic>
      <p:sp>
        <p:nvSpPr>
          <p:cNvPr id="33" name="Text 24"/>
          <p:cNvSpPr/>
          <p:nvPr/>
        </p:nvSpPr>
        <p:spPr>
          <a:xfrm>
            <a:off x="1325880" y="4992624"/>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Doseur huile</a:t>
            </a:r>
            <a:endParaRPr lang="en-US" sz="1300" dirty="0"/>
          </a:p>
        </p:txBody>
      </p:sp>
      <p:sp>
        <p:nvSpPr>
          <p:cNvPr id="34" name="Text 25"/>
          <p:cNvSpPr/>
          <p:nvPr/>
        </p:nvSpPr>
        <p:spPr>
          <a:xfrm>
            <a:off x="4754880" y="4992624"/>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Ajoute une quantité précise d'huile</a:t>
            </a:r>
            <a:endParaRPr lang="en-US" sz="1250" dirty="0"/>
          </a:p>
        </p:txBody>
      </p:sp>
      <p:sp>
        <p:nvSpPr>
          <p:cNvPr id="35" name="Shape 26"/>
          <p:cNvSpPr/>
          <p:nvPr/>
        </p:nvSpPr>
        <p:spPr>
          <a:xfrm>
            <a:off x="713232" y="5712714"/>
            <a:ext cx="438912" cy="438912"/>
          </a:xfrm>
          <a:prstGeom prst="ellipse">
            <a:avLst/>
          </a:prstGeom>
          <a:solidFill>
            <a:srgbClr val="222B5C"/>
          </a:solidFill>
          <a:ln/>
        </p:spPr>
      </p:sp>
      <p:pic>
        <p:nvPicPr>
          <p:cNvPr id="36" name="Image 7" descr="/home/claude/cuistot_pptx/icons/stirringSpoon.png">    </p:cNvPr>
          <p:cNvPicPr>
            <a:picLocks noChangeAspect="1"/>
          </p:cNvPicPr>
          <p:nvPr/>
        </p:nvPicPr>
        <p:blipFill>
          <a:blip r:embed="rId8"/>
          <a:stretch>
            <a:fillRect/>
          </a:stretch>
        </p:blipFill>
        <p:spPr>
          <a:xfrm>
            <a:off x="822960" y="5822442"/>
            <a:ext cx="219456" cy="219456"/>
          </a:xfrm>
          <a:prstGeom prst="rect">
            <a:avLst/>
          </a:prstGeom>
        </p:spPr>
      </p:pic>
      <p:sp>
        <p:nvSpPr>
          <p:cNvPr id="37" name="Text 27"/>
          <p:cNvSpPr/>
          <p:nvPr/>
        </p:nvSpPr>
        <p:spPr>
          <a:xfrm>
            <a:off x="1325880" y="5618988"/>
            <a:ext cx="3291840" cy="626364"/>
          </a:xfrm>
          <a:prstGeom prst="rect">
            <a:avLst/>
          </a:prstGeom>
          <a:noFill/>
          <a:ln/>
        </p:spPr>
        <p:txBody>
          <a:bodyPr wrap="square" lIns="0" tIns="0" rIns="0" bIns="0" rtlCol="0" anchor="ctr"/>
          <a:lstStyle/>
          <a:p>
            <a:pPr indent="0" marL="0">
              <a:buNone/>
            </a:pPr>
            <a:r>
              <a:rPr lang="en-US" sz="1300" b="1" dirty="0">
                <a:solidFill>
                  <a:srgbClr val="222B5C"/>
                </a:solidFill>
                <a:latin typeface="Calibri" pitchFamily="34" charset="0"/>
                <a:ea typeface="Calibri" pitchFamily="34" charset="-122"/>
                <a:cs typeface="Calibri" pitchFamily="34" charset="-120"/>
              </a:rPr>
              <a:t>Mélangeur / agitateur</a:t>
            </a:r>
            <a:endParaRPr lang="en-US" sz="1300" dirty="0"/>
          </a:p>
        </p:txBody>
      </p:sp>
      <p:sp>
        <p:nvSpPr>
          <p:cNvPr id="38" name="Text 28"/>
          <p:cNvSpPr/>
          <p:nvPr/>
        </p:nvSpPr>
        <p:spPr>
          <a:xfrm>
            <a:off x="4754880" y="5618988"/>
            <a:ext cx="6583680" cy="626364"/>
          </a:xfrm>
          <a:prstGeom prst="rect">
            <a:avLst/>
          </a:prstGeom>
          <a:noFill/>
          <a:ln/>
        </p:spPr>
        <p:txBody>
          <a:bodyPr wrap="square" lIns="0" tIns="0" rIns="0" bIns="0" rtlCol="0" anchor="ctr"/>
          <a:lstStyle/>
          <a:p>
            <a:pPr indent="0" marL="0">
              <a:buNone/>
            </a:pPr>
            <a:r>
              <a:rPr lang="en-US" sz="1250" dirty="0">
                <a:solidFill>
                  <a:srgbClr val="5B5F73"/>
                </a:solidFill>
                <a:latin typeface="Calibri" pitchFamily="34" charset="0"/>
                <a:ea typeface="Calibri" pitchFamily="34" charset="-122"/>
                <a:cs typeface="Calibri" pitchFamily="34" charset="-120"/>
              </a:rPr>
              <a:t>Mélange le contenu du cuiseur</a:t>
            </a:r>
            <a:endParaRPr lang="en-US" sz="1250" dirty="0"/>
          </a:p>
        </p:txBody>
      </p:sp>
      <p:sp>
        <p:nvSpPr>
          <p:cNvPr id="39" name="Text 29"/>
          <p:cNvSpPr/>
          <p:nvPr/>
        </p:nvSpPr>
        <p:spPr>
          <a:xfrm>
            <a:off x="11064240" y="6510528"/>
            <a:ext cx="914400" cy="274320"/>
          </a:xfrm>
          <a:prstGeom prst="rect">
            <a:avLst/>
          </a:prstGeom>
          <a:noFill/>
          <a:ln/>
        </p:spPr>
        <p:txBody>
          <a:bodyPr wrap="square" lIns="0" tIns="0" rIns="0" bIns="0" rtlCol="0" anchor="ctr"/>
          <a:lstStyle/>
          <a:p>
            <a:pPr algn="r" indent="0" marL="0">
              <a:buNone/>
            </a:pPr>
            <a:r>
              <a:rPr lang="en-US" sz="1000" dirty="0">
                <a:solidFill>
                  <a:srgbClr val="5B5F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22B5C"/>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Logiciels &amp; outils</a:t>
            </a:r>
            <a:endParaRPr lang="en-US" sz="3200" dirty="0"/>
          </a:p>
        </p:txBody>
      </p:sp>
      <p:sp>
        <p:nvSpPr>
          <p:cNvPr id="3" name="Shape 1"/>
          <p:cNvSpPr/>
          <p:nvPr/>
        </p:nvSpPr>
        <p:spPr>
          <a:xfrm>
            <a:off x="9692640" y="-1097280"/>
            <a:ext cx="3840480" cy="3840480"/>
          </a:xfrm>
          <a:prstGeom prst="ellipse">
            <a:avLst/>
          </a:prstGeom>
          <a:solidFill>
            <a:srgbClr val="2F3C7E"/>
          </a:solidFill>
          <a:ln/>
        </p:spPr>
      </p:sp>
      <p:sp>
        <p:nvSpPr>
          <p:cNvPr id="4" name="Shape 2"/>
          <p:cNvSpPr/>
          <p:nvPr/>
        </p:nvSpPr>
        <p:spPr>
          <a:xfrm>
            <a:off x="548640" y="1371600"/>
            <a:ext cx="5349240" cy="1920240"/>
          </a:xfrm>
          <a:prstGeom prst="roundRect">
            <a:avLst>
              <a:gd name="adj" fmla="val 4762"/>
            </a:avLst>
          </a:prstGeom>
          <a:solidFill>
            <a:srgbClr val="2A3568"/>
          </a:solidFill>
          <a:ln/>
        </p:spPr>
      </p:sp>
      <p:sp>
        <p:nvSpPr>
          <p:cNvPr id="5" name="Shape 3"/>
          <p:cNvSpPr/>
          <p:nvPr/>
        </p:nvSpPr>
        <p:spPr>
          <a:xfrm>
            <a:off x="822960" y="1645920"/>
            <a:ext cx="502920" cy="502920"/>
          </a:xfrm>
          <a:prstGeom prst="ellipse">
            <a:avLst/>
          </a:prstGeom>
          <a:solidFill>
            <a:srgbClr val="F96167"/>
          </a:solidFill>
          <a:ln/>
        </p:spPr>
      </p:sp>
      <p:pic>
        <p:nvPicPr>
          <p:cNvPr id="6" name="Image 0" descr="/home/claude/cuistot_pptx/icons/gear.png">    </p:cNvPr>
          <p:cNvPicPr>
            <a:picLocks noChangeAspect="1"/>
          </p:cNvPicPr>
          <p:nvPr/>
        </p:nvPicPr>
        <p:blipFill>
          <a:blip r:embed="rId1"/>
          <a:stretch>
            <a:fillRect/>
          </a:stretch>
        </p:blipFill>
        <p:spPr>
          <a:xfrm>
            <a:off x="955548" y="1778508"/>
            <a:ext cx="256032" cy="256032"/>
          </a:xfrm>
          <a:prstGeom prst="rect">
            <a:avLst/>
          </a:prstGeom>
        </p:spPr>
      </p:pic>
      <p:sp>
        <p:nvSpPr>
          <p:cNvPr id="7" name="Text 4"/>
          <p:cNvSpPr/>
          <p:nvPr/>
        </p:nvSpPr>
        <p:spPr>
          <a:xfrm>
            <a:off x="1508760" y="1627632"/>
            <a:ext cx="4160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Arduino IDE</a:t>
            </a:r>
            <a:endParaRPr lang="en-US" sz="1600" dirty="0"/>
          </a:p>
        </p:txBody>
      </p:sp>
      <p:sp>
        <p:nvSpPr>
          <p:cNvPr id="8" name="Text 5"/>
          <p:cNvSpPr/>
          <p:nvPr/>
        </p:nvSpPr>
        <p:spPr>
          <a:xfrm>
            <a:off x="822960" y="2286000"/>
            <a:ext cx="4800600" cy="914400"/>
          </a:xfrm>
          <a:prstGeom prst="rect">
            <a:avLst/>
          </a:prstGeom>
          <a:noFill/>
          <a:ln/>
        </p:spPr>
        <p:txBody>
          <a:bodyPr wrap="square" lIns="0" tIns="0" rIns="0" bIns="0" rtlCol="0" anchor="ctr"/>
          <a:lstStyle/>
          <a:p>
            <a:pPr indent="0" marL="0">
              <a:lnSpc>
                <a:spcPct val="115000"/>
              </a:lnSpc>
              <a:buNone/>
            </a:pPr>
            <a:r>
              <a:rPr lang="en-US" sz="1200" dirty="0">
                <a:solidFill>
                  <a:srgbClr val="C7CCEA"/>
                </a:solidFill>
                <a:latin typeface="Calibri" pitchFamily="34" charset="0"/>
                <a:ea typeface="Calibri" pitchFamily="34" charset="-122"/>
                <a:cs typeface="Calibri" pitchFamily="34" charset="-120"/>
              </a:rPr>
              <a:t>Programmer le microcontrôleur</a:t>
            </a:r>
            <a:endParaRPr lang="en-US" sz="1200" dirty="0"/>
          </a:p>
        </p:txBody>
      </p:sp>
      <p:sp>
        <p:nvSpPr>
          <p:cNvPr id="9" name="Shape 6"/>
          <p:cNvSpPr/>
          <p:nvPr/>
        </p:nvSpPr>
        <p:spPr>
          <a:xfrm>
            <a:off x="6263640" y="1371600"/>
            <a:ext cx="5349240" cy="1920240"/>
          </a:xfrm>
          <a:prstGeom prst="roundRect">
            <a:avLst>
              <a:gd name="adj" fmla="val 4762"/>
            </a:avLst>
          </a:prstGeom>
          <a:solidFill>
            <a:srgbClr val="2A3568"/>
          </a:solidFill>
          <a:ln/>
        </p:spPr>
      </p:sp>
      <p:sp>
        <p:nvSpPr>
          <p:cNvPr id="10" name="Shape 7"/>
          <p:cNvSpPr/>
          <p:nvPr/>
        </p:nvSpPr>
        <p:spPr>
          <a:xfrm>
            <a:off x="6537960" y="1645920"/>
            <a:ext cx="502920" cy="502920"/>
          </a:xfrm>
          <a:prstGeom prst="ellipse">
            <a:avLst/>
          </a:prstGeom>
          <a:solidFill>
            <a:srgbClr val="F96167"/>
          </a:solidFill>
          <a:ln/>
        </p:spPr>
      </p:sp>
      <p:pic>
        <p:nvPicPr>
          <p:cNvPr id="11" name="Image 1" descr="/home/claude/cuistot_pptx/icons/code.png">    </p:cNvPr>
          <p:cNvPicPr>
            <a:picLocks noChangeAspect="1"/>
          </p:cNvPicPr>
          <p:nvPr/>
        </p:nvPicPr>
        <p:blipFill>
          <a:blip r:embed="rId2"/>
          <a:stretch>
            <a:fillRect/>
          </a:stretch>
        </p:blipFill>
        <p:spPr>
          <a:xfrm>
            <a:off x="6670548" y="1778508"/>
            <a:ext cx="256032" cy="256032"/>
          </a:xfrm>
          <a:prstGeom prst="rect">
            <a:avLst/>
          </a:prstGeom>
        </p:spPr>
      </p:pic>
      <p:sp>
        <p:nvSpPr>
          <p:cNvPr id="12" name="Text 8"/>
          <p:cNvSpPr/>
          <p:nvPr/>
        </p:nvSpPr>
        <p:spPr>
          <a:xfrm>
            <a:off x="7223760" y="1627632"/>
            <a:ext cx="4160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Processing</a:t>
            </a:r>
            <a:endParaRPr lang="en-US" sz="1600" dirty="0"/>
          </a:p>
        </p:txBody>
      </p:sp>
      <p:sp>
        <p:nvSpPr>
          <p:cNvPr id="13" name="Text 9"/>
          <p:cNvSpPr/>
          <p:nvPr/>
        </p:nvSpPr>
        <p:spPr>
          <a:xfrm>
            <a:off x="6537960" y="2286000"/>
            <a:ext cx="4800600" cy="914400"/>
          </a:xfrm>
          <a:prstGeom prst="rect">
            <a:avLst/>
          </a:prstGeom>
          <a:noFill/>
          <a:ln/>
        </p:spPr>
        <p:txBody>
          <a:bodyPr wrap="square" lIns="0" tIns="0" rIns="0" bIns="0" rtlCol="0" anchor="ctr"/>
          <a:lstStyle/>
          <a:p>
            <a:pPr indent="0" marL="0">
              <a:lnSpc>
                <a:spcPct val="115000"/>
              </a:lnSpc>
              <a:buNone/>
            </a:pPr>
            <a:r>
              <a:rPr lang="en-US" sz="1200" dirty="0">
                <a:solidFill>
                  <a:srgbClr val="C7CCEA"/>
                </a:solidFill>
                <a:latin typeface="Calibri" pitchFamily="34" charset="0"/>
                <a:ea typeface="Calibri" pitchFamily="34" charset="-122"/>
                <a:cs typeface="Calibri" pitchFamily="34" charset="-120"/>
              </a:rPr>
              <a:t>Interface utilisateur, orchestration : lit le port série, lance le script Python, affiche les résultats</a:t>
            </a:r>
            <a:endParaRPr lang="en-US" sz="1200" dirty="0"/>
          </a:p>
        </p:txBody>
      </p:sp>
      <p:sp>
        <p:nvSpPr>
          <p:cNvPr id="14" name="Shape 10"/>
          <p:cNvSpPr/>
          <p:nvPr/>
        </p:nvSpPr>
        <p:spPr>
          <a:xfrm>
            <a:off x="548640" y="3611880"/>
            <a:ext cx="5349240" cy="1920240"/>
          </a:xfrm>
          <a:prstGeom prst="roundRect">
            <a:avLst>
              <a:gd name="adj" fmla="val 4762"/>
            </a:avLst>
          </a:prstGeom>
          <a:solidFill>
            <a:srgbClr val="2A3568"/>
          </a:solidFill>
          <a:ln/>
        </p:spPr>
      </p:sp>
      <p:sp>
        <p:nvSpPr>
          <p:cNvPr id="15" name="Shape 11"/>
          <p:cNvSpPr/>
          <p:nvPr/>
        </p:nvSpPr>
        <p:spPr>
          <a:xfrm>
            <a:off x="822960" y="3886200"/>
            <a:ext cx="502920" cy="502920"/>
          </a:xfrm>
          <a:prstGeom prst="ellipse">
            <a:avLst/>
          </a:prstGeom>
          <a:solidFill>
            <a:srgbClr val="F96167"/>
          </a:solidFill>
          <a:ln/>
        </p:spPr>
      </p:sp>
      <p:pic>
        <p:nvPicPr>
          <p:cNvPr id="16" name="Image 2" descr="/home/claude/cuistot_pptx/icons/python.png">    </p:cNvPr>
          <p:cNvPicPr>
            <a:picLocks noChangeAspect="1"/>
          </p:cNvPicPr>
          <p:nvPr/>
        </p:nvPicPr>
        <p:blipFill>
          <a:blip r:embed="rId3"/>
          <a:stretch>
            <a:fillRect/>
          </a:stretch>
        </p:blipFill>
        <p:spPr>
          <a:xfrm>
            <a:off x="955548" y="4018788"/>
            <a:ext cx="256032" cy="256032"/>
          </a:xfrm>
          <a:prstGeom prst="rect">
            <a:avLst/>
          </a:prstGeom>
        </p:spPr>
      </p:pic>
      <p:sp>
        <p:nvSpPr>
          <p:cNvPr id="17" name="Text 12"/>
          <p:cNvSpPr/>
          <p:nvPr/>
        </p:nvSpPr>
        <p:spPr>
          <a:xfrm>
            <a:off x="1508760" y="3867912"/>
            <a:ext cx="4160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Python (venv)</a:t>
            </a:r>
            <a:endParaRPr lang="en-US" sz="1600" dirty="0"/>
          </a:p>
        </p:txBody>
      </p:sp>
      <p:sp>
        <p:nvSpPr>
          <p:cNvPr id="18" name="Text 13"/>
          <p:cNvSpPr/>
          <p:nvPr/>
        </p:nvSpPr>
        <p:spPr>
          <a:xfrm>
            <a:off x="822960" y="4526280"/>
            <a:ext cx="4800600" cy="914400"/>
          </a:xfrm>
          <a:prstGeom prst="rect">
            <a:avLst/>
          </a:prstGeom>
          <a:noFill/>
          <a:ln/>
        </p:spPr>
        <p:txBody>
          <a:bodyPr wrap="square" lIns="0" tIns="0" rIns="0" bIns="0" rtlCol="0" anchor="ctr"/>
          <a:lstStyle/>
          <a:p>
            <a:pPr indent="0" marL="0">
              <a:lnSpc>
                <a:spcPct val="115000"/>
              </a:lnSpc>
              <a:buNone/>
            </a:pPr>
            <a:r>
              <a:rPr lang="en-US" sz="1200" dirty="0">
                <a:solidFill>
                  <a:srgbClr val="C7CCEA"/>
                </a:solidFill>
                <a:latin typeface="Calibri" pitchFamily="34" charset="0"/>
                <a:ea typeface="Calibri" pitchFamily="34" charset="-122"/>
                <a:cs typeface="Calibri" pitchFamily="34" charset="-120"/>
              </a:rPr>
              <a:t>Capture photo (requests), appel à l'API de l'IA</a:t>
            </a:r>
            <a:endParaRPr lang="en-US" sz="1200" dirty="0"/>
          </a:p>
        </p:txBody>
      </p:sp>
      <p:sp>
        <p:nvSpPr>
          <p:cNvPr id="19" name="Shape 14"/>
          <p:cNvSpPr/>
          <p:nvPr/>
        </p:nvSpPr>
        <p:spPr>
          <a:xfrm>
            <a:off x="6263640" y="3611880"/>
            <a:ext cx="5349240" cy="1920240"/>
          </a:xfrm>
          <a:prstGeom prst="roundRect">
            <a:avLst>
              <a:gd name="adj" fmla="val 4762"/>
            </a:avLst>
          </a:prstGeom>
          <a:solidFill>
            <a:srgbClr val="2A3568"/>
          </a:solidFill>
          <a:ln/>
        </p:spPr>
      </p:sp>
      <p:sp>
        <p:nvSpPr>
          <p:cNvPr id="20" name="Shape 15"/>
          <p:cNvSpPr/>
          <p:nvPr/>
        </p:nvSpPr>
        <p:spPr>
          <a:xfrm>
            <a:off x="6537960" y="3886200"/>
            <a:ext cx="502920" cy="502920"/>
          </a:xfrm>
          <a:prstGeom prst="ellipse">
            <a:avLst/>
          </a:prstGeom>
          <a:solidFill>
            <a:srgbClr val="F96167"/>
          </a:solidFill>
          <a:ln/>
        </p:spPr>
      </p:sp>
      <p:pic>
        <p:nvPicPr>
          <p:cNvPr id="21" name="Image 3" descr="/home/claude/cuistot_pptx/icons/brain.png">    </p:cNvPr>
          <p:cNvPicPr>
            <a:picLocks noChangeAspect="1"/>
          </p:cNvPicPr>
          <p:nvPr/>
        </p:nvPicPr>
        <p:blipFill>
          <a:blip r:embed="rId4"/>
          <a:stretch>
            <a:fillRect/>
          </a:stretch>
        </p:blipFill>
        <p:spPr>
          <a:xfrm>
            <a:off x="6670548" y="4018788"/>
            <a:ext cx="256032" cy="256032"/>
          </a:xfrm>
          <a:prstGeom prst="rect">
            <a:avLst/>
          </a:prstGeom>
        </p:spPr>
      </p:pic>
      <p:sp>
        <p:nvSpPr>
          <p:cNvPr id="22" name="Text 16"/>
          <p:cNvSpPr/>
          <p:nvPr/>
        </p:nvSpPr>
        <p:spPr>
          <a:xfrm>
            <a:off x="7223760" y="3867912"/>
            <a:ext cx="4160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API de l'IA (vision)</a:t>
            </a:r>
            <a:endParaRPr lang="en-US" sz="1600" dirty="0"/>
          </a:p>
        </p:txBody>
      </p:sp>
      <p:sp>
        <p:nvSpPr>
          <p:cNvPr id="23" name="Text 17"/>
          <p:cNvSpPr/>
          <p:nvPr/>
        </p:nvSpPr>
        <p:spPr>
          <a:xfrm>
            <a:off x="6537960" y="4526280"/>
            <a:ext cx="4800600" cy="914400"/>
          </a:xfrm>
          <a:prstGeom prst="rect">
            <a:avLst/>
          </a:prstGeom>
          <a:noFill/>
          <a:ln/>
        </p:spPr>
        <p:txBody>
          <a:bodyPr wrap="square" lIns="0" tIns="0" rIns="0" bIns="0" rtlCol="0" anchor="ctr"/>
          <a:lstStyle/>
          <a:p>
            <a:pPr indent="0" marL="0">
              <a:lnSpc>
                <a:spcPct val="115000"/>
              </a:lnSpc>
              <a:buNone/>
            </a:pPr>
            <a:r>
              <a:rPr lang="en-US" sz="1200" dirty="0">
                <a:solidFill>
                  <a:srgbClr val="C7CCEA"/>
                </a:solidFill>
                <a:latin typeface="Calibri" pitchFamily="34" charset="0"/>
                <a:ea typeface="Calibri" pitchFamily="34" charset="-122"/>
                <a:cs typeface="Calibri" pitchFamily="34" charset="-120"/>
              </a:rPr>
              <a:t>Analyse d'image + génération d'un plan de préparation structuré (JSON)</a:t>
            </a:r>
            <a:endParaRPr lang="en-US" sz="1200" dirty="0"/>
          </a:p>
        </p:txBody>
      </p:sp>
      <p:sp>
        <p:nvSpPr>
          <p:cNvPr id="24" name="Text 18"/>
          <p:cNvSpPr/>
          <p:nvPr/>
        </p:nvSpPr>
        <p:spPr>
          <a:xfrm>
            <a:off x="11064240" y="6510528"/>
            <a:ext cx="914400" cy="27432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2800" b="1" dirty="0">
                <a:solidFill>
                  <a:srgbClr val="222B5C"/>
                </a:solidFill>
                <a:latin typeface="Bookman Old Style" pitchFamily="34" charset="0"/>
                <a:ea typeface="Bookman Old Style" pitchFamily="34" charset="-122"/>
                <a:cs typeface="Bookman Old Style" pitchFamily="34" charset="-120"/>
              </a:rPr>
              <a:t>Décisions de conception importantes</a:t>
            </a:r>
            <a:endParaRPr lang="en-US" sz="2800" dirty="0"/>
          </a:p>
        </p:txBody>
      </p:sp>
      <p:sp>
        <p:nvSpPr>
          <p:cNvPr id="3" name="Shape 1"/>
          <p:cNvSpPr/>
          <p:nvPr/>
        </p:nvSpPr>
        <p:spPr>
          <a:xfrm>
            <a:off x="548640" y="1371600"/>
            <a:ext cx="11064240" cy="1572768"/>
          </a:xfrm>
          <a:prstGeom prst="roundRect">
            <a:avLst>
              <a:gd name="adj" fmla="val 5814"/>
            </a:avLst>
          </a:prstGeom>
          <a:solidFill>
            <a:srgbClr val="FFFFFF"/>
          </a:solidFill>
          <a:ln w="12700">
            <a:solidFill>
              <a:srgbClr val="EDEDF2"/>
            </a:solidFill>
            <a:prstDash val="solid"/>
          </a:ln>
          <a:effectLst>
            <a:outerShdw sx="100000" sy="100000" kx="0" ky="0" algn="bl" rotWithShape="0" blurRad="76200" dist="25400" dir="5400000">
              <a:srgbClr val="444444">
                <a:alpha val="13000"/>
              </a:srgbClr>
            </a:outerShdw>
          </a:effectLst>
        </p:spPr>
      </p:sp>
      <p:sp>
        <p:nvSpPr>
          <p:cNvPr id="4" name="Shape 2"/>
          <p:cNvSpPr/>
          <p:nvPr/>
        </p:nvSpPr>
        <p:spPr>
          <a:xfrm>
            <a:off x="868680" y="1700784"/>
            <a:ext cx="914400" cy="914400"/>
          </a:xfrm>
          <a:prstGeom prst="ellipse">
            <a:avLst/>
          </a:prstGeom>
          <a:solidFill>
            <a:srgbClr val="F96167"/>
          </a:solidFill>
          <a:ln/>
        </p:spPr>
      </p:sp>
      <p:pic>
        <p:nvPicPr>
          <p:cNvPr id="5" name="Image 0" descr="/home/claude/cuistot_pptx/icons/brain.png">    </p:cNvPr>
          <p:cNvPicPr>
            <a:picLocks noChangeAspect="1"/>
          </p:cNvPicPr>
          <p:nvPr/>
        </p:nvPicPr>
        <p:blipFill>
          <a:blip r:embed="rId1"/>
          <a:stretch>
            <a:fillRect/>
          </a:stretch>
        </p:blipFill>
        <p:spPr>
          <a:xfrm>
            <a:off x="1115568" y="1947672"/>
            <a:ext cx="420624" cy="420624"/>
          </a:xfrm>
          <a:prstGeom prst="rect">
            <a:avLst/>
          </a:prstGeom>
        </p:spPr>
      </p:pic>
      <p:sp>
        <p:nvSpPr>
          <p:cNvPr id="6" name="Text 3"/>
          <p:cNvSpPr/>
          <p:nvPr/>
        </p:nvSpPr>
        <p:spPr>
          <a:xfrm>
            <a:off x="868680" y="1417320"/>
            <a:ext cx="914400" cy="274320"/>
          </a:xfrm>
          <a:prstGeom prst="rect">
            <a:avLst/>
          </a:prstGeom>
          <a:noFill/>
          <a:ln/>
        </p:spPr>
        <p:txBody>
          <a:bodyPr wrap="square" lIns="0" tIns="0" rIns="0" bIns="0" rtlCol="0" anchor="ctr"/>
          <a:lstStyle/>
          <a:p>
            <a:pPr algn="ctr" indent="0" marL="0">
              <a:buNone/>
            </a:pPr>
            <a:r>
              <a:rPr lang="en-US" sz="1200" b="1" dirty="0">
                <a:solidFill>
                  <a:srgbClr val="5B5F73"/>
                </a:solidFill>
                <a:latin typeface="Bookman Old Style" pitchFamily="34" charset="0"/>
                <a:ea typeface="Bookman Old Style" pitchFamily="34" charset="-122"/>
                <a:cs typeface="Bookman Old Style" pitchFamily="34" charset="-120"/>
              </a:rPr>
              <a:t>01</a:t>
            </a:r>
            <a:endParaRPr lang="en-US" sz="1200" dirty="0"/>
          </a:p>
        </p:txBody>
      </p:sp>
      <p:sp>
        <p:nvSpPr>
          <p:cNvPr id="7" name="Text 4"/>
          <p:cNvSpPr/>
          <p:nvPr/>
        </p:nvSpPr>
        <p:spPr>
          <a:xfrm>
            <a:off x="2057400" y="1572768"/>
            <a:ext cx="9281160" cy="411480"/>
          </a:xfrm>
          <a:prstGeom prst="rect">
            <a:avLst/>
          </a:prstGeom>
          <a:noFill/>
          <a:ln/>
        </p:spPr>
        <p:txBody>
          <a:bodyPr wrap="square" lIns="0" tIns="0" rIns="0" bIns="0" rtlCol="0" anchor="ctr"/>
          <a:lstStyle/>
          <a:p>
            <a:pPr indent="0" marL="0">
              <a:buNone/>
            </a:pPr>
            <a:r>
              <a:rPr lang="en-US" sz="1600" b="1" dirty="0">
                <a:solidFill>
                  <a:srgbClr val="222B5C"/>
                </a:solidFill>
                <a:latin typeface="Calibri" pitchFamily="34" charset="0"/>
                <a:ea typeface="Calibri" pitchFamily="34" charset="-122"/>
                <a:cs typeface="Calibri" pitchFamily="34" charset="-120"/>
              </a:rPr>
              <a:t>Un seul appel à l'IA</a:t>
            </a:r>
            <a:endParaRPr lang="en-US" sz="1600" dirty="0"/>
          </a:p>
        </p:txBody>
      </p:sp>
      <p:sp>
        <p:nvSpPr>
          <p:cNvPr id="8" name="Text 5"/>
          <p:cNvSpPr/>
          <p:nvPr/>
        </p:nvSpPr>
        <p:spPr>
          <a:xfrm>
            <a:off x="2057400" y="2029968"/>
            <a:ext cx="9281160" cy="795528"/>
          </a:xfrm>
          <a:prstGeom prst="rect">
            <a:avLst/>
          </a:prstGeom>
          <a:noFill/>
          <a:ln/>
        </p:spPr>
        <p:txBody>
          <a:bodyPr wrap="square" lIns="0" tIns="0" rIns="0" bIns="0" rtlCol="0" anchor="ctr"/>
          <a:lstStyle/>
          <a:p>
            <a:pPr indent="0" marL="0">
              <a:lnSpc>
                <a:spcPct val="118000"/>
              </a:lnSpc>
              <a:buNone/>
            </a:pPr>
            <a:r>
              <a:rPr lang="en-US" sz="1250" dirty="0">
                <a:solidFill>
                  <a:srgbClr val="5B5F73"/>
                </a:solidFill>
                <a:latin typeface="Calibri" pitchFamily="34" charset="0"/>
                <a:ea typeface="Calibri" pitchFamily="34" charset="-122"/>
                <a:cs typeface="Calibri" pitchFamily="34" charset="-120"/>
              </a:rPr>
              <a:t>L'IA analyse la photo des ingrédients bruts une seule fois et retourne directement les deux phases (préparation humaine + cuisson robot) dans la même réponse. La phase 1 doit donc être exhaustive, sans quoi le robot devrait agir sur des ingrédients pas prêts.</a:t>
            </a:r>
            <a:endParaRPr lang="en-US" sz="1250" dirty="0"/>
          </a:p>
        </p:txBody>
      </p:sp>
      <p:sp>
        <p:nvSpPr>
          <p:cNvPr id="9" name="Shape 6"/>
          <p:cNvSpPr/>
          <p:nvPr/>
        </p:nvSpPr>
        <p:spPr>
          <a:xfrm>
            <a:off x="548640" y="3145536"/>
            <a:ext cx="11064240" cy="1572768"/>
          </a:xfrm>
          <a:prstGeom prst="roundRect">
            <a:avLst>
              <a:gd name="adj" fmla="val 5814"/>
            </a:avLst>
          </a:prstGeom>
          <a:solidFill>
            <a:srgbClr val="FFFFFF"/>
          </a:solidFill>
          <a:ln w="12700">
            <a:solidFill>
              <a:srgbClr val="EDEDF2"/>
            </a:solidFill>
            <a:prstDash val="solid"/>
          </a:ln>
          <a:effectLst>
            <a:outerShdw sx="100000" sy="100000" kx="0" ky="0" algn="bl" rotWithShape="0" blurRad="76200" dist="25400" dir="5400000">
              <a:srgbClr val="444444">
                <a:alpha val="13000"/>
              </a:srgbClr>
            </a:outerShdw>
          </a:effectLst>
        </p:spPr>
      </p:sp>
      <p:sp>
        <p:nvSpPr>
          <p:cNvPr id="10" name="Shape 7"/>
          <p:cNvSpPr/>
          <p:nvPr/>
        </p:nvSpPr>
        <p:spPr>
          <a:xfrm>
            <a:off x="868680" y="3474720"/>
            <a:ext cx="914400" cy="914400"/>
          </a:xfrm>
          <a:prstGeom prst="ellipse">
            <a:avLst/>
          </a:prstGeom>
          <a:solidFill>
            <a:srgbClr val="F96167"/>
          </a:solidFill>
          <a:ln/>
        </p:spPr>
      </p:sp>
      <p:pic>
        <p:nvPicPr>
          <p:cNvPr id="11" name="Image 1" descr="/home/claude/cuistot_pptx/icons/pot.png">    </p:cNvPr>
          <p:cNvPicPr>
            <a:picLocks noChangeAspect="1"/>
          </p:cNvPicPr>
          <p:nvPr/>
        </p:nvPicPr>
        <p:blipFill>
          <a:blip r:embed="rId2"/>
          <a:stretch>
            <a:fillRect/>
          </a:stretch>
        </p:blipFill>
        <p:spPr>
          <a:xfrm>
            <a:off x="1115568" y="3721608"/>
            <a:ext cx="420624" cy="420624"/>
          </a:xfrm>
          <a:prstGeom prst="rect">
            <a:avLst/>
          </a:prstGeom>
        </p:spPr>
      </p:pic>
      <p:sp>
        <p:nvSpPr>
          <p:cNvPr id="12" name="Text 8"/>
          <p:cNvSpPr/>
          <p:nvPr/>
        </p:nvSpPr>
        <p:spPr>
          <a:xfrm>
            <a:off x="868680" y="3191256"/>
            <a:ext cx="914400" cy="274320"/>
          </a:xfrm>
          <a:prstGeom prst="rect">
            <a:avLst/>
          </a:prstGeom>
          <a:noFill/>
          <a:ln/>
        </p:spPr>
        <p:txBody>
          <a:bodyPr wrap="square" lIns="0" tIns="0" rIns="0" bIns="0" rtlCol="0" anchor="ctr"/>
          <a:lstStyle/>
          <a:p>
            <a:pPr algn="ctr" indent="0" marL="0">
              <a:buNone/>
            </a:pPr>
            <a:r>
              <a:rPr lang="en-US" sz="1200" b="1" dirty="0">
                <a:solidFill>
                  <a:srgbClr val="5B5F73"/>
                </a:solidFill>
                <a:latin typeface="Bookman Old Style" pitchFamily="34" charset="0"/>
                <a:ea typeface="Bookman Old Style" pitchFamily="34" charset="-122"/>
                <a:cs typeface="Bookman Old Style" pitchFamily="34" charset="-120"/>
              </a:rPr>
              <a:t>02</a:t>
            </a:r>
            <a:endParaRPr lang="en-US" sz="1200" dirty="0"/>
          </a:p>
        </p:txBody>
      </p:sp>
      <p:sp>
        <p:nvSpPr>
          <p:cNvPr id="13" name="Text 9"/>
          <p:cNvSpPr/>
          <p:nvPr/>
        </p:nvSpPr>
        <p:spPr>
          <a:xfrm>
            <a:off x="2057400" y="3346704"/>
            <a:ext cx="9281160" cy="411480"/>
          </a:xfrm>
          <a:prstGeom prst="rect">
            <a:avLst/>
          </a:prstGeom>
          <a:noFill/>
          <a:ln/>
        </p:spPr>
        <p:txBody>
          <a:bodyPr wrap="square" lIns="0" tIns="0" rIns="0" bIns="0" rtlCol="0" anchor="ctr"/>
          <a:lstStyle/>
          <a:p>
            <a:pPr indent="0" marL="0">
              <a:buNone/>
            </a:pPr>
            <a:r>
              <a:rPr lang="en-US" sz="1600" b="1" dirty="0">
                <a:solidFill>
                  <a:srgbClr val="222B5C"/>
                </a:solidFill>
                <a:latin typeface="Calibri" pitchFamily="34" charset="0"/>
                <a:ea typeface="Calibri" pitchFamily="34" charset="-122"/>
                <a:cs typeface="Calibri" pitchFamily="34" charset="-120"/>
              </a:rPr>
              <a:t>Le robot traite le récipient dans son ensemble</a:t>
            </a:r>
            <a:endParaRPr lang="en-US" sz="1600" dirty="0"/>
          </a:p>
        </p:txBody>
      </p:sp>
      <p:sp>
        <p:nvSpPr>
          <p:cNvPr id="14" name="Text 10"/>
          <p:cNvSpPr/>
          <p:nvPr/>
        </p:nvSpPr>
        <p:spPr>
          <a:xfrm>
            <a:off x="2057400" y="3803904"/>
            <a:ext cx="9281160" cy="795528"/>
          </a:xfrm>
          <a:prstGeom prst="rect">
            <a:avLst/>
          </a:prstGeom>
          <a:noFill/>
          <a:ln/>
        </p:spPr>
        <p:txBody>
          <a:bodyPr wrap="square" lIns="0" tIns="0" rIns="0" bIns="0" rtlCol="0" anchor="ctr"/>
          <a:lstStyle/>
          <a:p>
            <a:pPr indent="0" marL="0">
              <a:lnSpc>
                <a:spcPct val="118000"/>
              </a:lnSpc>
              <a:buNone/>
            </a:pPr>
            <a:r>
              <a:rPr lang="en-US" sz="1250" dirty="0">
                <a:solidFill>
                  <a:srgbClr val="5B5F73"/>
                </a:solidFill>
                <a:latin typeface="Calibri" pitchFamily="34" charset="0"/>
                <a:ea typeface="Calibri" pitchFamily="34" charset="-122"/>
                <a:cs typeface="Calibri" pitchFamily="34" charset="-120"/>
              </a:rPr>
              <a:t>Pas d'action sur un ingrédient précis : le robot chauffe, dose et mélange le contenu global, comme un autocuiseur intelligent.</a:t>
            </a:r>
            <a:endParaRPr lang="en-US" sz="1250" dirty="0"/>
          </a:p>
        </p:txBody>
      </p:sp>
      <p:sp>
        <p:nvSpPr>
          <p:cNvPr id="15" name="Shape 11"/>
          <p:cNvSpPr/>
          <p:nvPr/>
        </p:nvSpPr>
        <p:spPr>
          <a:xfrm>
            <a:off x="548640" y="4919472"/>
            <a:ext cx="11064240" cy="1572768"/>
          </a:xfrm>
          <a:prstGeom prst="roundRect">
            <a:avLst>
              <a:gd name="adj" fmla="val 5814"/>
            </a:avLst>
          </a:prstGeom>
          <a:solidFill>
            <a:srgbClr val="FFFFFF"/>
          </a:solidFill>
          <a:ln w="12700">
            <a:solidFill>
              <a:srgbClr val="EDEDF2"/>
            </a:solidFill>
            <a:prstDash val="solid"/>
          </a:ln>
          <a:effectLst>
            <a:outerShdw sx="100000" sy="100000" kx="0" ky="0" algn="bl" rotWithShape="0" blurRad="76200" dist="25400" dir="5400000">
              <a:srgbClr val="444444">
                <a:alpha val="13000"/>
              </a:srgbClr>
            </a:outerShdw>
          </a:effectLst>
        </p:spPr>
      </p:sp>
      <p:sp>
        <p:nvSpPr>
          <p:cNvPr id="16" name="Shape 12"/>
          <p:cNvSpPr/>
          <p:nvPr/>
        </p:nvSpPr>
        <p:spPr>
          <a:xfrm>
            <a:off x="868680" y="5248656"/>
            <a:ext cx="914400" cy="914400"/>
          </a:xfrm>
          <a:prstGeom prst="ellipse">
            <a:avLst/>
          </a:prstGeom>
          <a:solidFill>
            <a:srgbClr val="F96167"/>
          </a:solidFill>
          <a:ln/>
        </p:spPr>
      </p:sp>
      <p:pic>
        <p:nvPicPr>
          <p:cNvPr id="17" name="Image 2" descr="/home/claude/cuistot_pptx/icons/camera.png">    </p:cNvPr>
          <p:cNvPicPr>
            <a:picLocks noChangeAspect="1"/>
          </p:cNvPicPr>
          <p:nvPr/>
        </p:nvPicPr>
        <p:blipFill>
          <a:blip r:embed="rId3"/>
          <a:stretch>
            <a:fillRect/>
          </a:stretch>
        </p:blipFill>
        <p:spPr>
          <a:xfrm>
            <a:off x="1115568" y="5495544"/>
            <a:ext cx="420624" cy="420624"/>
          </a:xfrm>
          <a:prstGeom prst="rect">
            <a:avLst/>
          </a:prstGeom>
        </p:spPr>
      </p:pic>
      <p:sp>
        <p:nvSpPr>
          <p:cNvPr id="18" name="Text 13"/>
          <p:cNvSpPr/>
          <p:nvPr/>
        </p:nvSpPr>
        <p:spPr>
          <a:xfrm>
            <a:off x="868680" y="4965192"/>
            <a:ext cx="914400" cy="274320"/>
          </a:xfrm>
          <a:prstGeom prst="rect">
            <a:avLst/>
          </a:prstGeom>
          <a:noFill/>
          <a:ln/>
        </p:spPr>
        <p:txBody>
          <a:bodyPr wrap="square" lIns="0" tIns="0" rIns="0" bIns="0" rtlCol="0" anchor="ctr"/>
          <a:lstStyle/>
          <a:p>
            <a:pPr algn="ctr" indent="0" marL="0">
              <a:buNone/>
            </a:pPr>
            <a:r>
              <a:rPr lang="en-US" sz="1200" b="1" dirty="0">
                <a:solidFill>
                  <a:srgbClr val="5B5F73"/>
                </a:solidFill>
                <a:latin typeface="Bookman Old Style" pitchFamily="34" charset="0"/>
                <a:ea typeface="Bookman Old Style" pitchFamily="34" charset="-122"/>
                <a:cs typeface="Bookman Old Style" pitchFamily="34" charset="-120"/>
              </a:rPr>
              <a:t>03</a:t>
            </a:r>
            <a:endParaRPr lang="en-US" sz="1200" dirty="0"/>
          </a:p>
        </p:txBody>
      </p:sp>
      <p:sp>
        <p:nvSpPr>
          <p:cNvPr id="19" name="Text 14"/>
          <p:cNvSpPr/>
          <p:nvPr/>
        </p:nvSpPr>
        <p:spPr>
          <a:xfrm>
            <a:off x="2057400" y="5120640"/>
            <a:ext cx="9281160" cy="411480"/>
          </a:xfrm>
          <a:prstGeom prst="rect">
            <a:avLst/>
          </a:prstGeom>
          <a:noFill/>
          <a:ln/>
        </p:spPr>
        <p:txBody>
          <a:bodyPr wrap="square" lIns="0" tIns="0" rIns="0" bIns="0" rtlCol="0" anchor="ctr"/>
          <a:lstStyle/>
          <a:p>
            <a:pPr indent="0" marL="0">
              <a:buNone/>
            </a:pPr>
            <a:r>
              <a:rPr lang="en-US" sz="1600" b="1" dirty="0">
                <a:solidFill>
                  <a:srgbClr val="222B5C"/>
                </a:solidFill>
                <a:latin typeface="Calibri" pitchFamily="34" charset="0"/>
                <a:ea typeface="Calibri" pitchFamily="34" charset="-122"/>
                <a:cs typeface="Calibri" pitchFamily="34" charset="-120"/>
              </a:rPr>
              <a:t>Détection anticipée d'objets non comestibles</a:t>
            </a:r>
            <a:endParaRPr lang="en-US" sz="1600" dirty="0"/>
          </a:p>
        </p:txBody>
      </p:sp>
      <p:sp>
        <p:nvSpPr>
          <p:cNvPr id="20" name="Text 15"/>
          <p:cNvSpPr/>
          <p:nvPr/>
        </p:nvSpPr>
        <p:spPr>
          <a:xfrm>
            <a:off x="2057400" y="5577840"/>
            <a:ext cx="9281160" cy="795528"/>
          </a:xfrm>
          <a:prstGeom prst="rect">
            <a:avLst/>
          </a:prstGeom>
          <a:noFill/>
          <a:ln/>
        </p:spPr>
        <p:txBody>
          <a:bodyPr wrap="square" lIns="0" tIns="0" rIns="0" bIns="0" rtlCol="0" anchor="ctr"/>
          <a:lstStyle/>
          <a:p>
            <a:pPr indent="0" marL="0">
              <a:lnSpc>
                <a:spcPct val="118000"/>
              </a:lnSpc>
              <a:buNone/>
            </a:pPr>
            <a:r>
              <a:rPr lang="en-US" sz="1250" dirty="0">
                <a:solidFill>
                  <a:srgbClr val="5B5F73"/>
                </a:solidFill>
                <a:latin typeface="Calibri" pitchFamily="34" charset="0"/>
                <a:ea typeface="Calibri" pitchFamily="34" charset="-122"/>
                <a:cs typeface="Calibri" pitchFamily="34" charset="-120"/>
              </a:rPr>
              <a:t>Avant de proposer des plats, l'IA vérifie que tout ce qui est visible sur la photo est bien un ingrédient alimentaire. Si un objet suspect est détecté, aucune recette n'est générée.</a:t>
            </a:r>
            <a:endParaRPr lang="en-US" sz="1250" dirty="0"/>
          </a:p>
        </p:txBody>
      </p:sp>
      <p:sp>
        <p:nvSpPr>
          <p:cNvPr id="21" name="Text 16"/>
          <p:cNvSpPr/>
          <p:nvPr/>
        </p:nvSpPr>
        <p:spPr>
          <a:xfrm>
            <a:off x="11064240" y="6510528"/>
            <a:ext cx="914400" cy="274320"/>
          </a:xfrm>
          <a:prstGeom prst="rect">
            <a:avLst/>
          </a:prstGeom>
          <a:noFill/>
          <a:ln/>
        </p:spPr>
        <p:txBody>
          <a:bodyPr wrap="square" lIns="0" tIns="0" rIns="0" bIns="0" rtlCol="0" anchor="ctr"/>
          <a:lstStyle/>
          <a:p>
            <a:pPr algn="r" indent="0" marL="0">
              <a:buNone/>
            </a:pPr>
            <a:r>
              <a:rPr lang="en-US" sz="1000" dirty="0">
                <a:solidFill>
                  <a:srgbClr val="5B5F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200" b="1" dirty="0">
                <a:solidFill>
                  <a:srgbClr val="222B5C"/>
                </a:solidFill>
                <a:latin typeface="Bookman Old Style" pitchFamily="34" charset="0"/>
                <a:ea typeface="Bookman Old Style" pitchFamily="34" charset="-122"/>
                <a:cs typeface="Bookman Old Style" pitchFamily="34" charset="-120"/>
              </a:rPr>
              <a:t>Structure de fichiers</a:t>
            </a:r>
            <a:endParaRPr lang="en-US" sz="32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indent="0" marL="0">
              <a:buNone/>
            </a:pPr>
            <a:r>
              <a:rPr lang="en-US" sz="1350" dirty="0">
                <a:solidFill>
                  <a:srgbClr val="5B5F73"/>
                </a:solidFill>
                <a:latin typeface="Calibri" pitchFamily="34" charset="0"/>
                <a:ea typeface="Calibri" pitchFamily="34" charset="-122"/>
                <a:cs typeface="Calibri" pitchFamily="34" charset="-120"/>
              </a:rPr>
              <a:t>Deux sous-projets : firmware Arduino et interface Processing (avec script Python embarqué).</a:t>
            </a:r>
            <a:endParaRPr lang="en-US" sz="1350" dirty="0"/>
          </a:p>
        </p:txBody>
      </p:sp>
      <p:sp>
        <p:nvSpPr>
          <p:cNvPr id="4" name="Shape 2"/>
          <p:cNvSpPr/>
          <p:nvPr/>
        </p:nvSpPr>
        <p:spPr>
          <a:xfrm>
            <a:off x="548640" y="1600200"/>
            <a:ext cx="5349240" cy="4663440"/>
          </a:xfrm>
          <a:prstGeom prst="roundRect">
            <a:avLst>
              <a:gd name="adj" fmla="val 1961"/>
            </a:avLst>
          </a:prstGeom>
          <a:solidFill>
            <a:srgbClr val="222B5C"/>
          </a:solidFill>
          <a:ln/>
        </p:spPr>
      </p:sp>
      <p:sp>
        <p:nvSpPr>
          <p:cNvPr id="5" name="Shape 3"/>
          <p:cNvSpPr/>
          <p:nvPr/>
        </p:nvSpPr>
        <p:spPr>
          <a:xfrm>
            <a:off x="914400" y="1856232"/>
            <a:ext cx="457200" cy="457200"/>
          </a:xfrm>
          <a:prstGeom prst="ellipse">
            <a:avLst/>
          </a:prstGeom>
          <a:solidFill>
            <a:srgbClr val="F96167"/>
          </a:solidFill>
          <a:ln/>
        </p:spPr>
      </p:sp>
      <p:pic>
        <p:nvPicPr>
          <p:cNvPr id="6" name="Image 0" descr="/home/claude/cuistot_pptx/icons/chip.png">    </p:cNvPr>
          <p:cNvPicPr>
            <a:picLocks noChangeAspect="1"/>
          </p:cNvPicPr>
          <p:nvPr/>
        </p:nvPicPr>
        <p:blipFill>
          <a:blip r:embed="rId1"/>
          <a:stretch>
            <a:fillRect/>
          </a:stretch>
        </p:blipFill>
        <p:spPr>
          <a:xfrm>
            <a:off x="1033272" y="1975104"/>
            <a:ext cx="219456" cy="219456"/>
          </a:xfrm>
          <a:prstGeom prst="rect">
            <a:avLst/>
          </a:prstGeom>
        </p:spPr>
      </p:pic>
      <p:sp>
        <p:nvSpPr>
          <p:cNvPr id="7" name="Text 4"/>
          <p:cNvSpPr/>
          <p:nvPr/>
        </p:nvSpPr>
        <p:spPr>
          <a:xfrm>
            <a:off x="1508760" y="1856232"/>
            <a:ext cx="3931920" cy="457200"/>
          </a:xfrm>
          <a:prstGeom prst="rect">
            <a:avLst/>
          </a:prstGeom>
          <a:noFill/>
          <a:ln/>
        </p:spPr>
        <p:txBody>
          <a:bodyPr wrap="square" lIns="0" tIns="0" rIns="0" bIns="0" rtlCol="0" anchor="ctr"/>
          <a:lstStyle/>
          <a:p>
            <a:pPr indent="0" marL="0">
              <a:buNone/>
            </a:pPr>
            <a:r>
              <a:rPr lang="en-US" sz="1700" b="1" dirty="0">
                <a:solidFill>
                  <a:srgbClr val="F9E795"/>
                </a:solidFill>
                <a:latin typeface="Courier New" pitchFamily="34" charset="0"/>
                <a:ea typeface="Courier New" pitchFamily="34" charset="-122"/>
                <a:cs typeface="Courier New" pitchFamily="34" charset="-120"/>
              </a:rPr>
              <a:t>Arduino/</a:t>
            </a:r>
            <a:endParaRPr lang="en-US" sz="1700" dirty="0"/>
          </a:p>
        </p:txBody>
      </p:sp>
      <p:sp>
        <p:nvSpPr>
          <p:cNvPr id="8" name="Text 5"/>
          <p:cNvSpPr/>
          <p:nvPr/>
        </p:nvSpPr>
        <p:spPr>
          <a:xfrm>
            <a:off x="960120" y="2423160"/>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Cuisine.ino</a:t>
            </a:r>
            <a:endParaRPr lang="en-US" sz="1100" dirty="0"/>
          </a:p>
        </p:txBody>
      </p:sp>
      <p:sp>
        <p:nvSpPr>
          <p:cNvPr id="9" name="Text 6"/>
          <p:cNvSpPr/>
          <p:nvPr/>
        </p:nvSpPr>
        <p:spPr>
          <a:xfrm>
            <a:off x="1143000" y="2642616"/>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point d'entrée du firmware</a:t>
            </a:r>
            <a:endParaRPr lang="en-US" sz="950" dirty="0"/>
          </a:p>
        </p:txBody>
      </p:sp>
      <p:sp>
        <p:nvSpPr>
          <p:cNvPr id="10" name="Text 7"/>
          <p:cNvSpPr/>
          <p:nvPr/>
        </p:nvSpPr>
        <p:spPr>
          <a:xfrm>
            <a:off x="960120" y="2866644"/>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headers.h</a:t>
            </a:r>
            <a:endParaRPr lang="en-US" sz="1100" dirty="0"/>
          </a:p>
        </p:txBody>
      </p:sp>
      <p:sp>
        <p:nvSpPr>
          <p:cNvPr id="11" name="Text 8"/>
          <p:cNvSpPr/>
          <p:nvPr/>
        </p:nvSpPr>
        <p:spPr>
          <a:xfrm>
            <a:off x="1143000" y="3086100"/>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déclarations partagées</a:t>
            </a:r>
            <a:endParaRPr lang="en-US" sz="950" dirty="0"/>
          </a:p>
        </p:txBody>
      </p:sp>
      <p:sp>
        <p:nvSpPr>
          <p:cNvPr id="12" name="Text 9"/>
          <p:cNvSpPr/>
          <p:nvPr/>
        </p:nvSpPr>
        <p:spPr>
          <a:xfrm>
            <a:off x="960120" y="3310128"/>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functions.cpp</a:t>
            </a:r>
            <a:endParaRPr lang="en-US" sz="1100" dirty="0"/>
          </a:p>
        </p:txBody>
      </p:sp>
      <p:sp>
        <p:nvSpPr>
          <p:cNvPr id="13" name="Text 10"/>
          <p:cNvSpPr/>
          <p:nvPr/>
        </p:nvSpPr>
        <p:spPr>
          <a:xfrm>
            <a:off x="1143000" y="3529584"/>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fonctions utilitaires</a:t>
            </a:r>
            <a:endParaRPr lang="en-US" sz="950" dirty="0"/>
          </a:p>
        </p:txBody>
      </p:sp>
      <p:sp>
        <p:nvSpPr>
          <p:cNvPr id="14" name="Text 11"/>
          <p:cNvSpPr/>
          <p:nvPr/>
        </p:nvSpPr>
        <p:spPr>
          <a:xfrm>
            <a:off x="960120" y="3753612"/>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Pompe.h / Pompe.cpp</a:t>
            </a:r>
            <a:endParaRPr lang="en-US" sz="1100" dirty="0"/>
          </a:p>
        </p:txBody>
      </p:sp>
      <p:sp>
        <p:nvSpPr>
          <p:cNvPr id="15" name="Text 12"/>
          <p:cNvSpPr/>
          <p:nvPr/>
        </p:nvSpPr>
        <p:spPr>
          <a:xfrm>
            <a:off x="1143000" y="3973068"/>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doseur eau</a:t>
            </a:r>
            <a:endParaRPr lang="en-US" sz="950" dirty="0"/>
          </a:p>
        </p:txBody>
      </p:sp>
      <p:sp>
        <p:nvSpPr>
          <p:cNvPr id="16" name="Text 13"/>
          <p:cNvSpPr/>
          <p:nvPr/>
        </p:nvSpPr>
        <p:spPr>
          <a:xfrm>
            <a:off x="960120" y="4197096"/>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Bouton.h / Bouton.cpp</a:t>
            </a:r>
            <a:endParaRPr lang="en-US" sz="1100" dirty="0"/>
          </a:p>
        </p:txBody>
      </p:sp>
      <p:sp>
        <p:nvSpPr>
          <p:cNvPr id="17" name="Text 14"/>
          <p:cNvSpPr/>
          <p:nvPr/>
        </p:nvSpPr>
        <p:spPr>
          <a:xfrm>
            <a:off x="1143000" y="4416552"/>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signal de fin de placement</a:t>
            </a:r>
            <a:endParaRPr lang="en-US" sz="950" dirty="0"/>
          </a:p>
        </p:txBody>
      </p:sp>
      <p:sp>
        <p:nvSpPr>
          <p:cNvPr id="18" name="Text 15"/>
          <p:cNvSpPr/>
          <p:nvPr/>
        </p:nvSpPr>
        <p:spPr>
          <a:xfrm>
            <a:off x="960120" y="4640580"/>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Bras.h / Bras.cpp</a:t>
            </a:r>
            <a:endParaRPr lang="en-US" sz="1100" dirty="0"/>
          </a:p>
        </p:txBody>
      </p:sp>
      <p:sp>
        <p:nvSpPr>
          <p:cNvPr id="19" name="Text 16"/>
          <p:cNvSpPr/>
          <p:nvPr/>
        </p:nvSpPr>
        <p:spPr>
          <a:xfrm>
            <a:off x="1143000" y="4860036"/>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mélangeur / agitateur</a:t>
            </a:r>
            <a:endParaRPr lang="en-US" sz="950" dirty="0"/>
          </a:p>
        </p:txBody>
      </p:sp>
      <p:sp>
        <p:nvSpPr>
          <p:cNvPr id="20" name="Text 17"/>
          <p:cNvSpPr/>
          <p:nvPr/>
        </p:nvSpPr>
        <p:spPr>
          <a:xfrm>
            <a:off x="960120" y="5084064"/>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Contenant.h / Contenant.cpp</a:t>
            </a:r>
            <a:endParaRPr lang="en-US" sz="1100" dirty="0"/>
          </a:p>
        </p:txBody>
      </p:sp>
      <p:sp>
        <p:nvSpPr>
          <p:cNvPr id="21" name="Text 18"/>
          <p:cNvSpPr/>
          <p:nvPr/>
        </p:nvSpPr>
        <p:spPr>
          <a:xfrm>
            <a:off x="1143000" y="5303520"/>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gestion du récipient</a:t>
            </a:r>
            <a:endParaRPr lang="en-US" sz="950" dirty="0"/>
          </a:p>
        </p:txBody>
      </p:sp>
      <p:sp>
        <p:nvSpPr>
          <p:cNvPr id="22" name="Text 19"/>
          <p:cNvSpPr/>
          <p:nvPr/>
        </p:nvSpPr>
        <p:spPr>
          <a:xfrm>
            <a:off x="960120" y="5527548"/>
            <a:ext cx="4846320" cy="246888"/>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Ultrason.h / Ultrason.cpp</a:t>
            </a:r>
            <a:endParaRPr lang="en-US" sz="1100" dirty="0"/>
          </a:p>
        </p:txBody>
      </p:sp>
      <p:sp>
        <p:nvSpPr>
          <p:cNvPr id="23" name="Text 20"/>
          <p:cNvSpPr/>
          <p:nvPr/>
        </p:nvSpPr>
        <p:spPr>
          <a:xfrm>
            <a:off x="1143000" y="5747004"/>
            <a:ext cx="4663440" cy="228600"/>
          </a:xfrm>
          <a:prstGeom prst="rect">
            <a:avLst/>
          </a:prstGeom>
          <a:noFill/>
          <a:ln/>
        </p:spPr>
        <p:txBody>
          <a:bodyPr wrap="square" lIns="0" tIns="0" rIns="0" bIns="0" rtlCol="0" anchor="ctr"/>
          <a:lstStyle/>
          <a:p>
            <a:pPr indent="0" marL="0">
              <a:buNone/>
            </a:pPr>
            <a:r>
              <a:rPr lang="en-US" sz="950" i="1" dirty="0">
                <a:solidFill>
                  <a:srgbClr val="9AA2CC"/>
                </a:solidFill>
                <a:latin typeface="Calibri" pitchFamily="34" charset="0"/>
                <a:ea typeface="Calibri" pitchFamily="34" charset="-122"/>
                <a:cs typeface="Calibri" pitchFamily="34" charset="-120"/>
              </a:rPr>
              <a:t>capteur HC-SR04</a:t>
            </a:r>
            <a:endParaRPr lang="en-US" sz="950" dirty="0"/>
          </a:p>
        </p:txBody>
      </p:sp>
      <p:sp>
        <p:nvSpPr>
          <p:cNvPr id="24" name="Shape 21"/>
          <p:cNvSpPr/>
          <p:nvPr/>
        </p:nvSpPr>
        <p:spPr>
          <a:xfrm>
            <a:off x="6263640" y="1600200"/>
            <a:ext cx="5349240" cy="4663440"/>
          </a:xfrm>
          <a:prstGeom prst="roundRect">
            <a:avLst>
              <a:gd name="adj" fmla="val 1961"/>
            </a:avLst>
          </a:prstGeom>
          <a:solidFill>
            <a:srgbClr val="FFFFFF"/>
          </a:solidFill>
          <a:ln w="12700">
            <a:solidFill>
              <a:srgbClr val="EDEDF2"/>
            </a:solidFill>
            <a:prstDash val="solid"/>
          </a:ln>
          <a:effectLst>
            <a:outerShdw sx="100000" sy="100000" kx="0" ky="0" algn="bl" rotWithShape="0" blurRad="76200" dist="25400" dir="5400000">
              <a:srgbClr val="444444">
                <a:alpha val="15000"/>
              </a:srgbClr>
            </a:outerShdw>
          </a:effectLst>
        </p:spPr>
      </p:sp>
      <p:sp>
        <p:nvSpPr>
          <p:cNvPr id="25" name="Shape 22"/>
          <p:cNvSpPr/>
          <p:nvPr/>
        </p:nvSpPr>
        <p:spPr>
          <a:xfrm>
            <a:off x="6629400" y="1856232"/>
            <a:ext cx="457200" cy="457200"/>
          </a:xfrm>
          <a:prstGeom prst="ellipse">
            <a:avLst/>
          </a:prstGeom>
          <a:solidFill>
            <a:srgbClr val="222B5C"/>
          </a:solidFill>
          <a:ln/>
        </p:spPr>
      </p:sp>
      <p:pic>
        <p:nvPicPr>
          <p:cNvPr id="26" name="Image 1" descr="/home/claude/cuistot_pptx/icons/code.png">    </p:cNvPr>
          <p:cNvPicPr>
            <a:picLocks noChangeAspect="1"/>
          </p:cNvPicPr>
          <p:nvPr/>
        </p:nvPicPr>
        <p:blipFill>
          <a:blip r:embed="rId2"/>
          <a:stretch>
            <a:fillRect/>
          </a:stretch>
        </p:blipFill>
        <p:spPr>
          <a:xfrm>
            <a:off x="6748272" y="1975104"/>
            <a:ext cx="219456" cy="219456"/>
          </a:xfrm>
          <a:prstGeom prst="rect">
            <a:avLst/>
          </a:prstGeom>
        </p:spPr>
      </p:pic>
      <p:sp>
        <p:nvSpPr>
          <p:cNvPr id="27" name="Text 23"/>
          <p:cNvSpPr/>
          <p:nvPr/>
        </p:nvSpPr>
        <p:spPr>
          <a:xfrm>
            <a:off x="7223760" y="1856232"/>
            <a:ext cx="3931920" cy="457200"/>
          </a:xfrm>
          <a:prstGeom prst="rect">
            <a:avLst/>
          </a:prstGeom>
          <a:noFill/>
          <a:ln/>
        </p:spPr>
        <p:txBody>
          <a:bodyPr wrap="square" lIns="0" tIns="0" rIns="0" bIns="0" rtlCol="0" anchor="ctr"/>
          <a:lstStyle/>
          <a:p>
            <a:pPr indent="0" marL="0">
              <a:buNone/>
            </a:pPr>
            <a:r>
              <a:rPr lang="en-US" sz="1700" b="1" dirty="0">
                <a:solidFill>
                  <a:srgbClr val="F96167"/>
                </a:solidFill>
                <a:latin typeface="Courier New" pitchFamily="34" charset="0"/>
                <a:ea typeface="Courier New" pitchFamily="34" charset="-122"/>
                <a:cs typeface="Courier New" pitchFamily="34" charset="-120"/>
              </a:rPr>
              <a:t>Processing/</a:t>
            </a:r>
            <a:endParaRPr lang="en-US" sz="1700" dirty="0"/>
          </a:p>
        </p:txBody>
      </p:sp>
      <p:sp>
        <p:nvSpPr>
          <p:cNvPr id="28" name="Text 24"/>
          <p:cNvSpPr/>
          <p:nvPr/>
        </p:nvSpPr>
        <p:spPr>
          <a:xfrm>
            <a:off x="6675120" y="2468880"/>
            <a:ext cx="4663440" cy="274320"/>
          </a:xfrm>
          <a:prstGeom prst="rect">
            <a:avLst/>
          </a:prstGeom>
          <a:noFill/>
          <a:ln/>
        </p:spPr>
        <p:txBody>
          <a:bodyPr wrap="square" lIns="0" tIns="0" rIns="0" bIns="0" rtlCol="0" anchor="ctr"/>
          <a:lstStyle/>
          <a:p>
            <a:pPr indent="0" marL="0">
              <a:buNone/>
            </a:pPr>
            <a:r>
              <a:rPr lang="en-US" sz="1150" dirty="0">
                <a:solidFill>
                  <a:srgbClr val="222B5C"/>
                </a:solidFill>
                <a:latin typeface="Courier New" pitchFamily="34" charset="0"/>
                <a:ea typeface="Courier New" pitchFamily="34" charset="-122"/>
                <a:cs typeface="Courier New" pitchFamily="34" charset="-120"/>
              </a:rPr>
              <a:t>cuistot.pde</a:t>
            </a:r>
            <a:endParaRPr lang="en-US" sz="1150" dirty="0"/>
          </a:p>
        </p:txBody>
      </p:sp>
      <p:sp>
        <p:nvSpPr>
          <p:cNvPr id="29" name="Text 25"/>
          <p:cNvSpPr/>
          <p:nvPr/>
        </p:nvSpPr>
        <p:spPr>
          <a:xfrm>
            <a:off x="6858000" y="2715768"/>
            <a:ext cx="4480560" cy="256032"/>
          </a:xfrm>
          <a:prstGeom prst="rect">
            <a:avLst/>
          </a:prstGeom>
          <a:noFill/>
          <a:ln/>
        </p:spPr>
        <p:txBody>
          <a:bodyPr wrap="square" lIns="0" tIns="0" rIns="0" bIns="0" rtlCol="0" anchor="ctr"/>
          <a:lstStyle/>
          <a:p>
            <a:pPr indent="0" marL="0">
              <a:buNone/>
            </a:pPr>
            <a:r>
              <a:rPr lang="en-US" sz="1000" i="1" dirty="0">
                <a:solidFill>
                  <a:srgbClr val="5B5F73"/>
                </a:solidFill>
                <a:latin typeface="Calibri" pitchFamily="34" charset="0"/>
                <a:ea typeface="Calibri" pitchFamily="34" charset="-122"/>
                <a:cs typeface="Calibri" pitchFamily="34" charset="-120"/>
              </a:rPr>
              <a:t>sketch principal, orchestration</a:t>
            </a:r>
            <a:endParaRPr lang="en-US" sz="1000" dirty="0"/>
          </a:p>
        </p:txBody>
      </p:sp>
      <p:sp>
        <p:nvSpPr>
          <p:cNvPr id="30" name="Text 26"/>
          <p:cNvSpPr/>
          <p:nvPr/>
        </p:nvSpPr>
        <p:spPr>
          <a:xfrm>
            <a:off x="6675120" y="2953512"/>
            <a:ext cx="4663440" cy="274320"/>
          </a:xfrm>
          <a:prstGeom prst="rect">
            <a:avLst/>
          </a:prstGeom>
          <a:noFill/>
          <a:ln/>
        </p:spPr>
        <p:txBody>
          <a:bodyPr wrap="square" lIns="0" tIns="0" rIns="0" bIns="0" rtlCol="0" anchor="ctr"/>
          <a:lstStyle/>
          <a:p>
            <a:pPr indent="0" marL="0">
              <a:buNone/>
            </a:pPr>
            <a:r>
              <a:rPr lang="en-US" sz="1150" dirty="0">
                <a:solidFill>
                  <a:srgbClr val="222B5C"/>
                </a:solidFill>
                <a:latin typeface="Courier New" pitchFamily="34" charset="0"/>
                <a:ea typeface="Courier New" pitchFamily="34" charset="-122"/>
                <a:cs typeface="Courier New" pitchFamily="34" charset="-120"/>
              </a:rPr>
              <a:t>Bouton.pde</a:t>
            </a:r>
            <a:endParaRPr lang="en-US" sz="1150" dirty="0"/>
          </a:p>
        </p:txBody>
      </p:sp>
      <p:sp>
        <p:nvSpPr>
          <p:cNvPr id="31" name="Text 27"/>
          <p:cNvSpPr/>
          <p:nvPr/>
        </p:nvSpPr>
        <p:spPr>
          <a:xfrm>
            <a:off x="6858000" y="3200400"/>
            <a:ext cx="4480560" cy="256032"/>
          </a:xfrm>
          <a:prstGeom prst="rect">
            <a:avLst/>
          </a:prstGeom>
          <a:noFill/>
          <a:ln/>
        </p:spPr>
        <p:txBody>
          <a:bodyPr wrap="square" lIns="0" tIns="0" rIns="0" bIns="0" rtlCol="0" anchor="ctr"/>
          <a:lstStyle/>
          <a:p>
            <a:pPr indent="0" marL="0">
              <a:buNone/>
            </a:pPr>
            <a:r>
              <a:rPr lang="en-US" sz="1000" i="1" dirty="0">
                <a:solidFill>
                  <a:srgbClr val="5B5F73"/>
                </a:solidFill>
                <a:latin typeface="Calibri" pitchFamily="34" charset="0"/>
                <a:ea typeface="Calibri" pitchFamily="34" charset="-122"/>
                <a:cs typeface="Calibri" pitchFamily="34" charset="-120"/>
              </a:rPr>
              <a:t>gestion de l'interface bouton</a:t>
            </a:r>
            <a:endParaRPr lang="en-US" sz="1000" dirty="0"/>
          </a:p>
        </p:txBody>
      </p:sp>
      <p:sp>
        <p:nvSpPr>
          <p:cNvPr id="32" name="Text 28"/>
          <p:cNvSpPr/>
          <p:nvPr/>
        </p:nvSpPr>
        <p:spPr>
          <a:xfrm>
            <a:off x="6675120" y="3438144"/>
            <a:ext cx="4663440" cy="274320"/>
          </a:xfrm>
          <a:prstGeom prst="rect">
            <a:avLst/>
          </a:prstGeom>
          <a:noFill/>
          <a:ln/>
        </p:spPr>
        <p:txBody>
          <a:bodyPr wrap="square" lIns="0" tIns="0" rIns="0" bIns="0" rtlCol="0" anchor="ctr"/>
          <a:lstStyle/>
          <a:p>
            <a:pPr indent="0" marL="0">
              <a:buNone/>
            </a:pPr>
            <a:r>
              <a:rPr lang="en-US" sz="1150" dirty="0">
                <a:solidFill>
                  <a:srgbClr val="222B5C"/>
                </a:solidFill>
                <a:latin typeface="Courier New" pitchFamily="34" charset="0"/>
                <a:ea typeface="Courier New" pitchFamily="34" charset="-122"/>
                <a:cs typeface="Courier New" pitchFamily="34" charset="-120"/>
              </a:rPr>
              <a:t>sketch.properties</a:t>
            </a:r>
            <a:endParaRPr lang="en-US" sz="1150" dirty="0"/>
          </a:p>
        </p:txBody>
      </p:sp>
      <p:sp>
        <p:nvSpPr>
          <p:cNvPr id="33" name="Text 29"/>
          <p:cNvSpPr/>
          <p:nvPr/>
        </p:nvSpPr>
        <p:spPr>
          <a:xfrm>
            <a:off x="6858000" y="3685032"/>
            <a:ext cx="4480560" cy="256032"/>
          </a:xfrm>
          <a:prstGeom prst="rect">
            <a:avLst/>
          </a:prstGeom>
          <a:noFill/>
          <a:ln/>
        </p:spPr>
        <p:txBody>
          <a:bodyPr wrap="square" lIns="0" tIns="0" rIns="0" bIns="0" rtlCol="0" anchor="ctr"/>
          <a:lstStyle/>
          <a:p>
            <a:pPr indent="0" marL="0">
              <a:buNone/>
            </a:pPr>
            <a:r>
              <a:rPr lang="en-US" sz="1000" i="1" dirty="0">
                <a:solidFill>
                  <a:srgbClr val="5B5F73"/>
                </a:solidFill>
                <a:latin typeface="Calibri" pitchFamily="34" charset="0"/>
                <a:ea typeface="Calibri" pitchFamily="34" charset="-122"/>
                <a:cs typeface="Calibri" pitchFamily="34" charset="-120"/>
              </a:rPr>
              <a:t>configuration du sketch</a:t>
            </a:r>
            <a:endParaRPr lang="en-US" sz="1000" dirty="0"/>
          </a:p>
        </p:txBody>
      </p:sp>
      <p:sp>
        <p:nvSpPr>
          <p:cNvPr id="34" name="Text 30"/>
          <p:cNvSpPr/>
          <p:nvPr/>
        </p:nvSpPr>
        <p:spPr>
          <a:xfrm>
            <a:off x="6675120" y="3922776"/>
            <a:ext cx="4663440" cy="274320"/>
          </a:xfrm>
          <a:prstGeom prst="rect">
            <a:avLst/>
          </a:prstGeom>
          <a:noFill/>
          <a:ln/>
        </p:spPr>
        <p:txBody>
          <a:bodyPr wrap="square" lIns="0" tIns="0" rIns="0" bIns="0" rtlCol="0" anchor="ctr"/>
          <a:lstStyle/>
          <a:p>
            <a:pPr indent="0" marL="0">
              <a:buNone/>
            </a:pPr>
            <a:r>
              <a:rPr lang="en-US" sz="1150" dirty="0">
                <a:solidFill>
                  <a:srgbClr val="222B5C"/>
                </a:solidFill>
                <a:latin typeface="Courier New" pitchFamily="34" charset="0"/>
                <a:ea typeface="Courier New" pitchFamily="34" charset="-122"/>
                <a:cs typeface="Courier New" pitchFamily="34" charset="-120"/>
              </a:rPr>
              <a:t>data/capturer_et_analyser.py</a:t>
            </a:r>
            <a:endParaRPr lang="en-US" sz="1150" dirty="0"/>
          </a:p>
        </p:txBody>
      </p:sp>
      <p:sp>
        <p:nvSpPr>
          <p:cNvPr id="35" name="Text 31"/>
          <p:cNvSpPr/>
          <p:nvPr/>
        </p:nvSpPr>
        <p:spPr>
          <a:xfrm>
            <a:off x="6858000" y="4169664"/>
            <a:ext cx="4480560" cy="256032"/>
          </a:xfrm>
          <a:prstGeom prst="rect">
            <a:avLst/>
          </a:prstGeom>
          <a:noFill/>
          <a:ln/>
        </p:spPr>
        <p:txBody>
          <a:bodyPr wrap="square" lIns="0" tIns="0" rIns="0" bIns="0" rtlCol="0" anchor="ctr"/>
          <a:lstStyle/>
          <a:p>
            <a:pPr indent="0" marL="0">
              <a:buNone/>
            </a:pPr>
            <a:r>
              <a:rPr lang="en-US" sz="1000" i="1" dirty="0">
                <a:solidFill>
                  <a:srgbClr val="5B5F73"/>
                </a:solidFill>
                <a:latin typeface="Calibri" pitchFamily="34" charset="0"/>
                <a:ea typeface="Calibri" pitchFamily="34" charset="-122"/>
                <a:cs typeface="Calibri" pitchFamily="34" charset="-120"/>
              </a:rPr>
              <a:t>capture photo + appel API IA</a:t>
            </a:r>
            <a:endParaRPr lang="en-US" sz="1000" dirty="0"/>
          </a:p>
        </p:txBody>
      </p:sp>
      <p:sp>
        <p:nvSpPr>
          <p:cNvPr id="36" name="Text 32"/>
          <p:cNvSpPr/>
          <p:nvPr/>
        </p:nvSpPr>
        <p:spPr>
          <a:xfrm>
            <a:off x="11064240" y="6510528"/>
            <a:ext cx="914400" cy="274320"/>
          </a:xfrm>
          <a:prstGeom prst="rect">
            <a:avLst/>
          </a:prstGeom>
          <a:noFill/>
          <a:ln/>
        </p:spPr>
        <p:txBody>
          <a:bodyPr wrap="square" lIns="0" tIns="0" rIns="0" bIns="0" rtlCol="0" anchor="ctr"/>
          <a:lstStyle/>
          <a:p>
            <a:pPr algn="r" indent="0" marL="0">
              <a:buNone/>
            </a:pPr>
            <a:r>
              <a:rPr lang="en-US" sz="1000" dirty="0">
                <a:solidFill>
                  <a:srgbClr val="5B5F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2026-08-19T19:49:58Z</dcterms:created>
  <dcterms:modified xsi:type="dcterms:W3CDTF">2026-08-19T19:49:58Z</dcterms:modified>
</cp:coreProperties>
</file>